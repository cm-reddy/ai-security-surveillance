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37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00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everyone. Today, we're demonstrating an autonomous PPE and machine zone safety monitoring system. Unlike passive warning signs or human spot-checks, this edge vision system monitors restricted machine zones 24/7 with sub-11ms response times, verifying worker compliance and sounding a loud industrial alarm the moment an unprotected worker breaches the boundary.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plant manager knows the reality: workers take off their gear because it's hot, and they step into a hazardous zone 'just for a second.' That split second is where OSHA violations, machine lockouts, and severe injuries happen. Our goal was to build a system that acts like an infallible digital safety supervisor stationed at the machine boundary—operating with zero fatigue and sub-15ms reaction time.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architectural workflow from camera lens to alert. The video feed enters our OpenCV capture engine, passes through our custom-trained neural network on local GPU in about 10 milliseconds, tracks each worker persistently across frames, verifies equipment anatomically, and checks if their physical footprint crosses into the danger zone. When a breach occurs, it triggers an audible siren, flashes on-screen banners, and logs the incident into the audit trail.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common flaw in off-the-shelf AI demos is that they use generic stock models that fail under factory lighting or with specific uniform designs. We trained this model directly on real-world PPE gear and site imagery. In our validation testing, the model achieved a 97.8% mean average precision, with an inference time under 11 milliseconds. That means there is virtually zero camera lag—the system responds faster than human reflex.</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didn't just build a simple object detector; we built an industrial logic layer. First, it uses anatomical association—if a worker is holding their hard hat in their hand, our system knows it's not on their head and flags them. Second, plant layouts change: you can click and drag the hazard lines directly on the video feed to match the tape on your concrete floor. Third, our temporal consensus algorithm stops annoying false alarms caused by camera blinks.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a breach happens, the operator doesn't need to guess. The system sounds a loud industrial siren through the plant workstation speakers, flashes a high-visibility red banner across the monitor, and updates our in-camera Events Drawer. Plant managers can also click the dashboard button right on the video feed to pull up historical trends.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During our live demo, we will walk you through these exact 4 steps: first, authorized entry with full PPE to prove normal production is uninterrupted; second, an unauthorized breach where the siren and banner fire; third, the in-camera Events Drawer showing the instant incident log; and fourth, the web analytics dashboard for management.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 the end of the shift, EHS and plant managers have access to a lightweight, zero-cloud web dashboard. It calculates shift compliance percentages, graphs violation frequency by hour, and provides an exportable audit log for safety committee reviews.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we have demonstrated today is a fully working proof of concept. The architecture is engineered to scale directly into a plant pilot: we can connect to your existing CCTV RTSP streams, and we can link the violation trigger directly to an industrial PLC or relay to physically cut machine power or lock turnstiles when an unprotected worker approaches.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your time. We are ready to answer your technical questions, explore your camera infrastructure, and schedule a 2-week on-site pilot.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14400" y="1645920"/>
            <a:ext cx="109728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920240"/>
            <a:ext cx="10332720" cy="2926080"/>
          </a:xfrm>
          <a:prstGeom prst="rect">
            <a:avLst/>
          </a:prstGeom>
          <a:noFill/>
        </p:spPr>
        <p:txBody>
          <a:bodyPr wrap="square">
            <a:spAutoFit/>
          </a:bodyPr>
          <a:lstStyle/>
          <a:p>
            <a:pPr>
              <a:spcAft>
                <a:spcPts val="1200"/>
              </a:spcAft>
              <a:defRPr sz="1300" b="1">
                <a:solidFill>
                  <a:srgbClr val="06B6D4"/>
                </a:solidFill>
              </a:defRPr>
            </a:pPr>
            <a:r>
              <a:t>AI INDUSTRIAL SAFETY &amp; MACHINE ZONE PROTECTION</a:t>
            </a:r>
          </a:p>
          <a:p>
            <a:pPr>
              <a:spcAft>
                <a:spcPts val="1600"/>
              </a:spcAft>
              <a:defRPr sz="3600" b="1">
                <a:solidFill>
                  <a:srgbClr val="F8FAFC"/>
                </a:solidFill>
              </a:defRPr>
            </a:pPr>
            <a:r>
              <a:t>Autonomous PPE Compliance &amp;</a:t>
            </a:r>
            <a:br/>
            <a:r>
              <a:t>Restricted Zone Intrusion Monitoring</a:t>
            </a:r>
          </a:p>
          <a:p>
            <a:pPr>
              <a:defRPr sz="1500">
                <a:solidFill>
                  <a:srgbClr val="94A3B8"/>
                </a:solidFill>
              </a:defRPr>
            </a:pPr>
            <a:r>
              <a:t>Real-Time Edge Computer Vision | Sub-11ms Latency | Draggable Virtual Boundaries | In-Camera Audit</a:t>
            </a:r>
          </a:p>
        </p:txBody>
      </p:sp>
      <p:sp>
        <p:nvSpPr>
          <p:cNvPr id="5" name="Rounded Rectangle 4"/>
          <p:cNvSpPr/>
          <p:nvPr/>
        </p:nvSpPr>
        <p:spPr>
          <a:xfrm>
            <a:off x="914400" y="5212080"/>
            <a:ext cx="3200400" cy="91440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 y="5213773"/>
            <a:ext cx="2743200" cy="548640"/>
          </a:xfrm>
          <a:prstGeom prst="rect">
            <a:avLst/>
          </a:prstGeom>
          <a:noFill/>
        </p:spPr>
        <p:txBody>
          <a:bodyPr wrap="square">
            <a:spAutoFit/>
          </a:bodyPr>
          <a:lstStyle/>
          <a:p>
            <a:pPr>
              <a:spcAft>
                <a:spcPts val="800"/>
              </a:spcAft>
              <a:defRPr sz="1600" b="1">
                <a:solidFill>
                  <a:srgbClr val="F8FAFC"/>
                </a:solidFill>
              </a:defRPr>
            </a:pPr>
            <a:r>
              <a:rPr dirty="0"/>
              <a:t>⚡ 10.8 </a:t>
            </a:r>
            <a:r>
              <a:rPr dirty="0" err="1"/>
              <a:t>ms</a:t>
            </a:r>
            <a:r>
              <a:rPr dirty="0"/>
              <a:t> Inference</a:t>
            </a:r>
          </a:p>
          <a:p>
            <a:pPr>
              <a:spcAft>
                <a:spcPts val="400"/>
              </a:spcAft>
              <a:defRPr sz="1300">
                <a:solidFill>
                  <a:srgbClr val="94A3B8"/>
                </a:solidFill>
              </a:defRPr>
            </a:pPr>
            <a:r>
              <a:rPr dirty="0"/>
              <a:t>Runs at ~90 FPS on GPU</a:t>
            </a:r>
          </a:p>
          <a:p>
            <a:pPr>
              <a:spcAft>
                <a:spcPts val="400"/>
              </a:spcAft>
              <a:defRPr sz="1300">
                <a:solidFill>
                  <a:srgbClr val="94A3B8"/>
                </a:solidFill>
              </a:defRPr>
            </a:pPr>
            <a:r>
              <a:rPr dirty="0"/>
              <a:t>Zero webcam stream lag</a:t>
            </a:r>
          </a:p>
        </p:txBody>
      </p:sp>
      <p:sp>
        <p:nvSpPr>
          <p:cNvPr id="7" name="Rounded Rectangle 6"/>
          <p:cNvSpPr/>
          <p:nvPr/>
        </p:nvSpPr>
        <p:spPr>
          <a:xfrm>
            <a:off x="4480560" y="5212080"/>
            <a:ext cx="3200400" cy="9144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09160" y="5215466"/>
            <a:ext cx="2743200" cy="548640"/>
          </a:xfrm>
          <a:prstGeom prst="rect">
            <a:avLst/>
          </a:prstGeom>
          <a:noFill/>
        </p:spPr>
        <p:txBody>
          <a:bodyPr wrap="square">
            <a:spAutoFit/>
          </a:bodyPr>
          <a:lstStyle/>
          <a:p>
            <a:pPr>
              <a:spcAft>
                <a:spcPts val="800"/>
              </a:spcAft>
              <a:defRPr sz="1600" b="1">
                <a:solidFill>
                  <a:srgbClr val="F8FAFC"/>
                </a:solidFill>
              </a:defRPr>
            </a:pPr>
            <a:r>
              <a:rPr dirty="0"/>
              <a:t>🎯 97.8% </a:t>
            </a:r>
            <a:r>
              <a:rPr dirty="0" err="1"/>
              <a:t>mAP</a:t>
            </a:r>
            <a:r>
              <a:rPr dirty="0"/>
              <a:t> Accuracy</a:t>
            </a:r>
          </a:p>
          <a:p>
            <a:pPr>
              <a:spcAft>
                <a:spcPts val="400"/>
              </a:spcAft>
              <a:defRPr sz="1300">
                <a:solidFill>
                  <a:srgbClr val="94A3B8"/>
                </a:solidFill>
              </a:defRPr>
            </a:pPr>
            <a:r>
              <a:rPr dirty="0"/>
              <a:t>Custom trained on real PPE</a:t>
            </a:r>
          </a:p>
          <a:p>
            <a:pPr>
              <a:spcAft>
                <a:spcPts val="400"/>
              </a:spcAft>
              <a:defRPr sz="1300">
                <a:solidFill>
                  <a:srgbClr val="94A3B8"/>
                </a:solidFill>
              </a:defRPr>
            </a:pPr>
            <a:r>
              <a:rPr dirty="0"/>
              <a:t>Person, Helmet &amp; Vest</a:t>
            </a:r>
          </a:p>
        </p:txBody>
      </p:sp>
      <p:sp>
        <p:nvSpPr>
          <p:cNvPr id="9" name="Rounded Rectangle 8"/>
          <p:cNvSpPr/>
          <p:nvPr/>
        </p:nvSpPr>
        <p:spPr>
          <a:xfrm>
            <a:off x="8046720" y="5212080"/>
            <a:ext cx="3200400" cy="91440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75320" y="5225626"/>
            <a:ext cx="2743200" cy="548640"/>
          </a:xfrm>
          <a:prstGeom prst="rect">
            <a:avLst/>
          </a:prstGeom>
          <a:noFill/>
        </p:spPr>
        <p:txBody>
          <a:bodyPr wrap="square">
            <a:spAutoFit/>
          </a:bodyPr>
          <a:lstStyle/>
          <a:p>
            <a:pPr>
              <a:spcAft>
                <a:spcPts val="800"/>
              </a:spcAft>
              <a:defRPr sz="1600" b="1">
                <a:solidFill>
                  <a:srgbClr val="F8FAFC"/>
                </a:solidFill>
              </a:defRPr>
            </a:pPr>
            <a:r>
              <a:rPr dirty="0"/>
              <a:t>🚨 Instant Auditory Siren</a:t>
            </a:r>
          </a:p>
          <a:p>
            <a:pPr>
              <a:spcAft>
                <a:spcPts val="400"/>
              </a:spcAft>
              <a:defRPr sz="1300">
                <a:solidFill>
                  <a:srgbClr val="94A3B8"/>
                </a:solidFill>
              </a:defRPr>
            </a:pPr>
            <a:r>
              <a:rPr dirty="0"/>
              <a:t>High-decibel dual-tone alarm</a:t>
            </a:r>
          </a:p>
          <a:p>
            <a:pPr>
              <a:spcAft>
                <a:spcPts val="400"/>
              </a:spcAft>
              <a:defRPr sz="1300">
                <a:solidFill>
                  <a:srgbClr val="94A3B8"/>
                </a:solidFill>
              </a:defRPr>
            </a:pPr>
            <a:r>
              <a:rPr dirty="0"/>
              <a:t>Enforces danger perimeter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3657600" cy="365760"/>
          </a:xfrm>
          <a:prstGeom prst="rect">
            <a:avLst/>
          </a:prstGeom>
          <a:noFill/>
        </p:spPr>
        <p:txBody>
          <a:bodyPr wrap="square">
            <a:spAutoFit/>
          </a:bodyPr>
          <a:lstStyle/>
          <a:p>
            <a:pPr>
              <a:defRPr sz="1100" b="1">
                <a:solidFill>
                  <a:srgbClr val="06B6D4"/>
                </a:solidFill>
              </a:defRPr>
            </a:pPr>
            <a:r>
              <a:t>INDUSTRIAL SAFETY GAPS</a:t>
            </a:r>
          </a:p>
        </p:txBody>
      </p:sp>
      <p:sp>
        <p:nvSpPr>
          <p:cNvPr id="4" name="TextBox 3"/>
          <p:cNvSpPr txBox="1"/>
          <p:nvPr/>
        </p:nvSpPr>
        <p:spPr>
          <a:xfrm>
            <a:off x="731520" y="731520"/>
            <a:ext cx="10698480" cy="640080"/>
          </a:xfrm>
          <a:prstGeom prst="rect">
            <a:avLst/>
          </a:prstGeom>
          <a:noFill/>
        </p:spPr>
        <p:txBody>
          <a:bodyPr wrap="square">
            <a:spAutoFit/>
          </a:bodyPr>
          <a:lstStyle/>
          <a:p>
            <a:pPr>
              <a:defRPr sz="2400" b="1">
                <a:solidFill>
                  <a:srgbClr val="F8FAFC"/>
                </a:solidFill>
              </a:defRPr>
            </a:pPr>
            <a:r>
              <a:t>The Operational Problem: Why Manual Spot-Checks Fail</a:t>
            </a:r>
          </a:p>
        </p:txBody>
      </p:sp>
      <p:sp>
        <p:nvSpPr>
          <p:cNvPr id="5" name="Rounded Rectangle 4"/>
          <p:cNvSpPr/>
          <p:nvPr/>
        </p:nvSpPr>
        <p:spPr>
          <a:xfrm>
            <a:off x="731520" y="1645920"/>
            <a:ext cx="33832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28800"/>
            <a:ext cx="2926080" cy="4023359"/>
          </a:xfrm>
          <a:prstGeom prst="rect">
            <a:avLst/>
          </a:prstGeom>
          <a:noFill/>
        </p:spPr>
        <p:txBody>
          <a:bodyPr wrap="square">
            <a:spAutoFit/>
          </a:bodyPr>
          <a:lstStyle/>
          <a:p>
            <a:pPr>
              <a:spcAft>
                <a:spcPts val="800"/>
              </a:spcAft>
              <a:defRPr sz="1600" b="1">
                <a:solidFill>
                  <a:srgbClr val="F8FAFC"/>
                </a:solidFill>
              </a:defRPr>
            </a:pPr>
            <a:r>
              <a:t>Human Vigilance Limits</a:t>
            </a:r>
          </a:p>
          <a:p>
            <a:pPr>
              <a:spcAft>
                <a:spcPts val="400"/>
              </a:spcAft>
              <a:defRPr sz="1300">
                <a:solidFill>
                  <a:srgbClr val="94A3B8"/>
                </a:solidFill>
              </a:defRPr>
            </a:pPr>
            <a:r>
              <a:t>• Safety supervisors cannot stand in front of every machine cell 24/7.</a:t>
            </a:r>
          </a:p>
          <a:p>
            <a:pPr>
              <a:spcAft>
                <a:spcPts val="400"/>
              </a:spcAft>
              <a:defRPr sz="1300">
                <a:solidFill>
                  <a:srgbClr val="94A3B8"/>
                </a:solidFill>
              </a:defRPr>
            </a:pPr>
            <a:endParaRPr/>
          </a:p>
          <a:p>
            <a:pPr>
              <a:spcAft>
                <a:spcPts val="400"/>
              </a:spcAft>
              <a:defRPr sz="1300">
                <a:solidFill>
                  <a:srgbClr val="94A3B8"/>
                </a:solidFill>
              </a:defRPr>
            </a:pPr>
            <a:r>
              <a:t>• Workers frequently remove hard hats or vests due to heat, fatigue, or rush.</a:t>
            </a:r>
          </a:p>
          <a:p>
            <a:pPr>
              <a:spcAft>
                <a:spcPts val="400"/>
              </a:spcAft>
              <a:defRPr sz="1300">
                <a:solidFill>
                  <a:srgbClr val="94A3B8"/>
                </a:solidFill>
              </a:defRPr>
            </a:pPr>
            <a:endParaRPr/>
          </a:p>
          <a:p>
            <a:pPr>
              <a:spcAft>
                <a:spcPts val="400"/>
              </a:spcAft>
              <a:defRPr sz="1300">
                <a:solidFill>
                  <a:srgbClr val="94A3B8"/>
                </a:solidFill>
              </a:defRPr>
            </a:pPr>
            <a:r>
              <a:t>• Spot-checks only catch violations after exposure has already occurred.</a:t>
            </a:r>
          </a:p>
          <a:p>
            <a:pPr>
              <a:spcAft>
                <a:spcPts val="400"/>
              </a:spcAft>
              <a:defRPr sz="1300">
                <a:solidFill>
                  <a:srgbClr val="94A3B8"/>
                </a:solidFill>
              </a:defRPr>
            </a:pPr>
            <a:endParaRPr/>
          </a:p>
          <a:p>
            <a:pPr>
              <a:spcAft>
                <a:spcPts val="400"/>
              </a:spcAft>
              <a:defRPr sz="1300">
                <a:solidFill>
                  <a:srgbClr val="94A3B8"/>
                </a:solidFill>
              </a:defRPr>
            </a:pPr>
            <a:r>
              <a:t>• Relies on manual memory with zero continuous oversight.</a:t>
            </a:r>
          </a:p>
        </p:txBody>
      </p:sp>
      <p:sp>
        <p:nvSpPr>
          <p:cNvPr id="7" name="Rounded Rectangle 6"/>
          <p:cNvSpPr/>
          <p:nvPr/>
        </p:nvSpPr>
        <p:spPr>
          <a:xfrm>
            <a:off x="4389120" y="1645920"/>
            <a:ext cx="3383280" cy="4389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1828800"/>
            <a:ext cx="2926080" cy="4023359"/>
          </a:xfrm>
          <a:prstGeom prst="rect">
            <a:avLst/>
          </a:prstGeom>
          <a:noFill/>
        </p:spPr>
        <p:txBody>
          <a:bodyPr wrap="square">
            <a:spAutoFit/>
          </a:bodyPr>
          <a:lstStyle/>
          <a:p>
            <a:pPr>
              <a:spcAft>
                <a:spcPts val="800"/>
              </a:spcAft>
              <a:defRPr sz="1600" b="1">
                <a:solidFill>
                  <a:srgbClr val="F8FAFC"/>
                </a:solidFill>
              </a:defRPr>
            </a:pPr>
            <a:r>
              <a:t>Zero-Tolerance Hazard Cells</a:t>
            </a:r>
          </a:p>
          <a:p>
            <a:pPr>
              <a:spcAft>
                <a:spcPts val="400"/>
              </a:spcAft>
              <a:defRPr sz="1300">
                <a:solidFill>
                  <a:srgbClr val="94A3B8"/>
                </a:solidFill>
              </a:defRPr>
            </a:pPr>
            <a:r>
              <a:t>• Robotic arms, press brakes, and CNC routers demand 100% protective gear.</a:t>
            </a:r>
          </a:p>
          <a:p>
            <a:pPr>
              <a:spcAft>
                <a:spcPts val="400"/>
              </a:spcAft>
              <a:defRPr sz="1300">
                <a:solidFill>
                  <a:srgbClr val="94A3B8"/>
                </a:solidFill>
              </a:defRPr>
            </a:pPr>
            <a:endParaRPr/>
          </a:p>
          <a:p>
            <a:pPr>
              <a:spcAft>
                <a:spcPts val="400"/>
              </a:spcAft>
              <a:defRPr sz="1300">
                <a:solidFill>
                  <a:srgbClr val="94A3B8"/>
                </a:solidFill>
              </a:defRPr>
            </a:pPr>
            <a:r>
              <a:t>• Walking into a machine perimeter 'for just 10 seconds' accounts for 68% of near-misses.</a:t>
            </a:r>
          </a:p>
          <a:p>
            <a:pPr>
              <a:spcAft>
                <a:spcPts val="400"/>
              </a:spcAft>
              <a:defRPr sz="1300">
                <a:solidFill>
                  <a:srgbClr val="94A3B8"/>
                </a:solidFill>
              </a:defRPr>
            </a:pPr>
            <a:endParaRPr/>
          </a:p>
          <a:p>
            <a:pPr>
              <a:spcAft>
                <a:spcPts val="400"/>
              </a:spcAft>
              <a:defRPr sz="1300">
                <a:solidFill>
                  <a:srgbClr val="94A3B8"/>
                </a:solidFill>
              </a:defRPr>
            </a:pPr>
            <a:r>
              <a:t>• Passive yellow floor tape is ignored in high-pace manufacturing floors.</a:t>
            </a:r>
          </a:p>
          <a:p>
            <a:pPr>
              <a:spcAft>
                <a:spcPts val="400"/>
              </a:spcAft>
              <a:defRPr sz="1300">
                <a:solidFill>
                  <a:srgbClr val="94A3B8"/>
                </a:solidFill>
              </a:defRPr>
            </a:pPr>
            <a:endParaRPr/>
          </a:p>
          <a:p>
            <a:pPr>
              <a:spcAft>
                <a:spcPts val="400"/>
              </a:spcAft>
              <a:defRPr sz="1300">
                <a:solidFill>
                  <a:srgbClr val="94A3B8"/>
                </a:solidFill>
              </a:defRPr>
            </a:pPr>
            <a:r>
              <a:t>• Traditional safety lacks active presence verification.</a:t>
            </a:r>
          </a:p>
        </p:txBody>
      </p:sp>
      <p:sp>
        <p:nvSpPr>
          <p:cNvPr id="9" name="Rounded Rectangle 8"/>
          <p:cNvSpPr/>
          <p:nvPr/>
        </p:nvSpPr>
        <p:spPr>
          <a:xfrm>
            <a:off x="8046720" y="1645920"/>
            <a:ext cx="3383280" cy="438912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75320" y="1828800"/>
            <a:ext cx="2926080" cy="4023359"/>
          </a:xfrm>
          <a:prstGeom prst="rect">
            <a:avLst/>
          </a:prstGeom>
          <a:noFill/>
        </p:spPr>
        <p:txBody>
          <a:bodyPr wrap="square">
            <a:spAutoFit/>
          </a:bodyPr>
          <a:lstStyle/>
          <a:p>
            <a:pPr>
              <a:spcAft>
                <a:spcPts val="800"/>
              </a:spcAft>
              <a:defRPr sz="1600" b="1">
                <a:solidFill>
                  <a:srgbClr val="F8FAFC"/>
                </a:solidFill>
              </a:defRPr>
            </a:pPr>
            <a:r>
              <a:t>Lack of Audit Evidence</a:t>
            </a:r>
          </a:p>
          <a:p>
            <a:pPr>
              <a:spcAft>
                <a:spcPts val="400"/>
              </a:spcAft>
              <a:defRPr sz="1300">
                <a:solidFill>
                  <a:srgbClr val="94A3B8"/>
                </a:solidFill>
              </a:defRPr>
            </a:pPr>
            <a:r>
              <a:t>• When incidents or OSHA audits occur, companies lack verifiable timestamps.</a:t>
            </a:r>
          </a:p>
          <a:p>
            <a:pPr>
              <a:spcAft>
                <a:spcPts val="400"/>
              </a:spcAft>
              <a:defRPr sz="1300">
                <a:solidFill>
                  <a:srgbClr val="94A3B8"/>
                </a:solidFill>
              </a:defRPr>
            </a:pPr>
            <a:endParaRPr/>
          </a:p>
          <a:p>
            <a:pPr>
              <a:spcAft>
                <a:spcPts val="400"/>
              </a:spcAft>
              <a:defRPr sz="1300">
                <a:solidFill>
                  <a:srgbClr val="94A3B8"/>
                </a:solidFill>
              </a:defRPr>
            </a:pPr>
            <a:r>
              <a:t>• No historical record of near-misses or repeat offender tracking.</a:t>
            </a:r>
          </a:p>
          <a:p>
            <a:pPr>
              <a:spcAft>
                <a:spcPts val="400"/>
              </a:spcAft>
              <a:defRPr sz="1300">
                <a:solidFill>
                  <a:srgbClr val="94A3B8"/>
                </a:solidFill>
              </a:defRPr>
            </a:pPr>
            <a:endParaRPr/>
          </a:p>
          <a:p>
            <a:pPr>
              <a:spcAft>
                <a:spcPts val="400"/>
              </a:spcAft>
              <a:defRPr sz="1300">
                <a:solidFill>
                  <a:srgbClr val="94A3B8"/>
                </a:solidFill>
              </a:defRPr>
            </a:pPr>
            <a:r>
              <a:t>• Management has no visibility into shift-by-shift compliance metrics.</a:t>
            </a:r>
          </a:p>
          <a:p>
            <a:pPr>
              <a:spcAft>
                <a:spcPts val="400"/>
              </a:spcAft>
              <a:defRPr sz="1300">
                <a:solidFill>
                  <a:srgbClr val="94A3B8"/>
                </a:solidFill>
              </a:defRPr>
            </a:pPr>
            <a:endParaRPr/>
          </a:p>
          <a:p>
            <a:pPr>
              <a:spcAft>
                <a:spcPts val="400"/>
              </a:spcAft>
              <a:defRPr sz="1300">
                <a:solidFill>
                  <a:srgbClr val="94A3B8"/>
                </a:solidFill>
              </a:defRPr>
            </a:pPr>
            <a:r>
              <a:t>• Unverifiable claims increase corporate liability and worker compensation risk.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3657600" cy="365760"/>
          </a:xfrm>
          <a:prstGeom prst="rect">
            <a:avLst/>
          </a:prstGeom>
          <a:noFill/>
        </p:spPr>
        <p:txBody>
          <a:bodyPr wrap="square">
            <a:spAutoFit/>
          </a:bodyPr>
          <a:lstStyle/>
          <a:p>
            <a:pPr>
              <a:defRPr sz="1100" b="1">
                <a:solidFill>
                  <a:srgbClr val="06B6D4"/>
                </a:solidFill>
              </a:defRPr>
            </a:pPr>
            <a:r>
              <a:t>ARCHITECTURE &amp; PIPELINE</a:t>
            </a:r>
          </a:p>
        </p:txBody>
      </p:sp>
      <p:sp>
        <p:nvSpPr>
          <p:cNvPr id="4" name="TextBox 3"/>
          <p:cNvSpPr txBox="1"/>
          <p:nvPr/>
        </p:nvSpPr>
        <p:spPr>
          <a:xfrm>
            <a:off x="731520" y="731520"/>
            <a:ext cx="10698480" cy="640080"/>
          </a:xfrm>
          <a:prstGeom prst="rect">
            <a:avLst/>
          </a:prstGeom>
          <a:noFill/>
        </p:spPr>
        <p:txBody>
          <a:bodyPr wrap="square">
            <a:spAutoFit/>
          </a:bodyPr>
          <a:lstStyle/>
          <a:p>
            <a:pPr>
              <a:defRPr sz="2400" b="1">
                <a:solidFill>
                  <a:srgbClr val="F8FAFC"/>
                </a:solidFill>
              </a:defRPr>
            </a:pPr>
            <a:r>
              <a:t>Edge-Native Vision Pipeline: From Camera Glass to Instant Action</a:t>
            </a:r>
          </a:p>
        </p:txBody>
      </p:sp>
      <p:sp>
        <p:nvSpPr>
          <p:cNvPr id="5" name="Rounded Rectangle 4"/>
          <p:cNvSpPr/>
          <p:nvPr/>
        </p:nvSpPr>
        <p:spPr>
          <a:xfrm>
            <a:off x="731520" y="1645920"/>
            <a:ext cx="246888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28800"/>
            <a:ext cx="2011680" cy="4023359"/>
          </a:xfrm>
          <a:prstGeom prst="rect">
            <a:avLst/>
          </a:prstGeom>
          <a:noFill/>
        </p:spPr>
        <p:txBody>
          <a:bodyPr wrap="square">
            <a:spAutoFit/>
          </a:bodyPr>
          <a:lstStyle/>
          <a:p>
            <a:pPr>
              <a:spcAft>
                <a:spcPts val="800"/>
              </a:spcAft>
              <a:defRPr sz="1600" b="1">
                <a:solidFill>
                  <a:srgbClr val="F8FAFC"/>
                </a:solidFill>
              </a:defRPr>
            </a:pPr>
            <a:r>
              <a:t>1. Ingestion Layer</a:t>
            </a:r>
          </a:p>
          <a:p>
            <a:pPr>
              <a:spcAft>
                <a:spcPts val="400"/>
              </a:spcAft>
              <a:defRPr sz="1300">
                <a:solidFill>
                  <a:srgbClr val="94A3B8"/>
                </a:solidFill>
              </a:defRPr>
            </a:pPr>
            <a:r>
              <a:t>• USB Webcams</a:t>
            </a:r>
          </a:p>
          <a:p>
            <a:pPr>
              <a:spcAft>
                <a:spcPts val="400"/>
              </a:spcAft>
              <a:defRPr sz="1300">
                <a:solidFill>
                  <a:srgbClr val="94A3B8"/>
                </a:solidFill>
              </a:defRPr>
            </a:pPr>
            <a:r>
              <a:t>• Industrial RTSP CCTV</a:t>
            </a:r>
          </a:p>
          <a:p>
            <a:pPr>
              <a:spcAft>
                <a:spcPts val="400"/>
              </a:spcAft>
              <a:defRPr sz="1300">
                <a:solidFill>
                  <a:srgbClr val="94A3B8"/>
                </a:solidFill>
              </a:defRPr>
            </a:pPr>
            <a:r>
              <a:t>• IP Camera Streams</a:t>
            </a:r>
          </a:p>
          <a:p>
            <a:pPr>
              <a:spcAft>
                <a:spcPts val="400"/>
              </a:spcAft>
              <a:defRPr sz="1300">
                <a:solidFill>
                  <a:srgbClr val="94A3B8"/>
                </a:solidFill>
              </a:defRPr>
            </a:pPr>
            <a:r>
              <a:t>• Pre-recorded Video Files</a:t>
            </a:r>
          </a:p>
          <a:p>
            <a:pPr>
              <a:spcAft>
                <a:spcPts val="400"/>
              </a:spcAft>
              <a:defRPr sz="1300">
                <a:solidFill>
                  <a:srgbClr val="94A3B8"/>
                </a:solidFill>
              </a:defRPr>
            </a:pPr>
            <a:endParaRPr/>
          </a:p>
          <a:p>
            <a:pPr>
              <a:spcAft>
                <a:spcPts val="400"/>
              </a:spcAft>
              <a:defRPr sz="1300">
                <a:solidFill>
                  <a:srgbClr val="94A3B8"/>
                </a:solidFill>
              </a:defRPr>
            </a:pPr>
            <a:r>
              <a:t>High-throughput OpenCV frame grabber with zero buffer lag.</a:t>
            </a:r>
          </a:p>
        </p:txBody>
      </p:sp>
      <p:sp>
        <p:nvSpPr>
          <p:cNvPr id="7" name="Rounded Rectangle 6"/>
          <p:cNvSpPr/>
          <p:nvPr/>
        </p:nvSpPr>
        <p:spPr>
          <a:xfrm>
            <a:off x="3474720" y="1645920"/>
            <a:ext cx="246888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703320" y="1828800"/>
            <a:ext cx="2011680" cy="4023359"/>
          </a:xfrm>
          <a:prstGeom prst="rect">
            <a:avLst/>
          </a:prstGeom>
          <a:noFill/>
        </p:spPr>
        <p:txBody>
          <a:bodyPr wrap="square">
            <a:spAutoFit/>
          </a:bodyPr>
          <a:lstStyle/>
          <a:p>
            <a:pPr>
              <a:spcAft>
                <a:spcPts val="800"/>
              </a:spcAft>
              <a:defRPr sz="1600" b="1">
                <a:solidFill>
                  <a:srgbClr val="F8FAFC"/>
                </a:solidFill>
              </a:defRPr>
            </a:pPr>
            <a:r>
              <a:t>2. AI Detection &amp; Tracking</a:t>
            </a:r>
          </a:p>
          <a:p>
            <a:pPr>
              <a:spcAft>
                <a:spcPts val="400"/>
              </a:spcAft>
              <a:defRPr sz="1300">
                <a:solidFill>
                  <a:srgbClr val="94A3B8"/>
                </a:solidFill>
              </a:defRPr>
            </a:pPr>
            <a:r>
              <a:t>• Custom YOLOv8 Model</a:t>
            </a:r>
          </a:p>
          <a:p>
            <a:pPr>
              <a:spcAft>
                <a:spcPts val="400"/>
              </a:spcAft>
              <a:defRPr sz="1300">
                <a:solidFill>
                  <a:srgbClr val="94A3B8"/>
                </a:solidFill>
              </a:defRPr>
            </a:pPr>
            <a:r>
              <a:t>• 10.8ms Inference (~90 FPS)</a:t>
            </a:r>
          </a:p>
          <a:p>
            <a:pPr>
              <a:spcAft>
                <a:spcPts val="400"/>
              </a:spcAft>
              <a:defRPr sz="1300">
                <a:solidFill>
                  <a:srgbClr val="94A3B8"/>
                </a:solidFill>
              </a:defRPr>
            </a:pPr>
            <a:r>
              <a:t>• ByteTrack Multi-Worker Tracking</a:t>
            </a:r>
          </a:p>
          <a:p>
            <a:pPr>
              <a:spcAft>
                <a:spcPts val="400"/>
              </a:spcAft>
              <a:defRPr sz="1300">
                <a:solidFill>
                  <a:srgbClr val="94A3B8"/>
                </a:solidFill>
              </a:defRPr>
            </a:pPr>
            <a:r>
              <a:t>• Assigns permanent Track ID</a:t>
            </a:r>
          </a:p>
          <a:p>
            <a:pPr>
              <a:spcAft>
                <a:spcPts val="400"/>
              </a:spcAft>
              <a:defRPr sz="1300">
                <a:solidFill>
                  <a:srgbClr val="94A3B8"/>
                </a:solidFill>
              </a:defRPr>
            </a:pPr>
            <a:endParaRPr/>
          </a:p>
          <a:p>
            <a:pPr>
              <a:spcAft>
                <a:spcPts val="400"/>
              </a:spcAft>
              <a:defRPr sz="1300">
                <a:solidFill>
                  <a:srgbClr val="94A3B8"/>
                </a:solidFill>
              </a:defRPr>
            </a:pPr>
            <a:r>
              <a:t>Runs on local GPU/edge hardware with zero cloud delay.</a:t>
            </a:r>
          </a:p>
        </p:txBody>
      </p:sp>
      <p:sp>
        <p:nvSpPr>
          <p:cNvPr id="9" name="Rounded Rectangle 8"/>
          <p:cNvSpPr/>
          <p:nvPr/>
        </p:nvSpPr>
        <p:spPr>
          <a:xfrm>
            <a:off x="6217920" y="1645920"/>
            <a:ext cx="2468880" cy="4389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828800"/>
            <a:ext cx="2011680" cy="4023359"/>
          </a:xfrm>
          <a:prstGeom prst="rect">
            <a:avLst/>
          </a:prstGeom>
          <a:noFill/>
        </p:spPr>
        <p:txBody>
          <a:bodyPr wrap="square">
            <a:spAutoFit/>
          </a:bodyPr>
          <a:lstStyle/>
          <a:p>
            <a:pPr>
              <a:spcAft>
                <a:spcPts val="800"/>
              </a:spcAft>
              <a:defRPr sz="1600" b="1">
                <a:solidFill>
                  <a:srgbClr val="F8FAFC"/>
                </a:solidFill>
              </a:defRPr>
            </a:pPr>
            <a:r>
              <a:t>3. Spatial Safety Engine</a:t>
            </a:r>
          </a:p>
          <a:p>
            <a:pPr>
              <a:spcAft>
                <a:spcPts val="400"/>
              </a:spcAft>
              <a:defRPr sz="1300">
                <a:solidFill>
                  <a:srgbClr val="94A3B8"/>
                </a:solidFill>
              </a:defRPr>
            </a:pPr>
            <a:r>
              <a:t>• Head-Zone Helmet Check (top 25%)</a:t>
            </a:r>
          </a:p>
          <a:p>
            <a:pPr>
              <a:spcAft>
                <a:spcPts val="400"/>
              </a:spcAft>
              <a:defRPr sz="1300">
                <a:solidFill>
                  <a:srgbClr val="94A3B8"/>
                </a:solidFill>
              </a:defRPr>
            </a:pPr>
            <a:r>
              <a:t>• Torso-Zone Vest Check (mid 40%)</a:t>
            </a:r>
          </a:p>
          <a:p>
            <a:pPr>
              <a:spcAft>
                <a:spcPts val="400"/>
              </a:spcAft>
              <a:defRPr sz="1300">
                <a:solidFill>
                  <a:srgbClr val="94A3B8"/>
                </a:solidFill>
              </a:defRPr>
            </a:pPr>
            <a:r>
              <a:t>• Draggable Hazard Borders</a:t>
            </a:r>
          </a:p>
          <a:p>
            <a:pPr>
              <a:spcAft>
                <a:spcPts val="400"/>
              </a:spcAft>
              <a:defRPr sz="1300">
                <a:solidFill>
                  <a:srgbClr val="94A3B8"/>
                </a:solidFill>
              </a:defRPr>
            </a:pPr>
            <a:r>
              <a:t>• Foot-Anchor Perimeter Check</a:t>
            </a:r>
          </a:p>
          <a:p>
            <a:pPr>
              <a:spcAft>
                <a:spcPts val="400"/>
              </a:spcAft>
              <a:defRPr sz="1300">
                <a:solidFill>
                  <a:srgbClr val="94A3B8"/>
                </a:solidFill>
              </a:defRPr>
            </a:pPr>
            <a:r>
              <a:t>• Temporal Anti-Flicker Filter</a:t>
            </a:r>
          </a:p>
        </p:txBody>
      </p:sp>
      <p:sp>
        <p:nvSpPr>
          <p:cNvPr id="11" name="Rounded Rectangle 10"/>
          <p:cNvSpPr/>
          <p:nvPr/>
        </p:nvSpPr>
        <p:spPr>
          <a:xfrm>
            <a:off x="8961120" y="1645920"/>
            <a:ext cx="246888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89720" y="1828800"/>
            <a:ext cx="2011680" cy="4023359"/>
          </a:xfrm>
          <a:prstGeom prst="rect">
            <a:avLst/>
          </a:prstGeom>
          <a:noFill/>
        </p:spPr>
        <p:txBody>
          <a:bodyPr wrap="square">
            <a:spAutoFit/>
          </a:bodyPr>
          <a:lstStyle/>
          <a:p>
            <a:pPr>
              <a:spcAft>
                <a:spcPts val="800"/>
              </a:spcAft>
              <a:defRPr sz="1600" b="1">
                <a:solidFill>
                  <a:srgbClr val="F8FAFC"/>
                </a:solidFill>
              </a:defRPr>
            </a:pPr>
            <a:r>
              <a:t>4. Multi-Channel Output</a:t>
            </a:r>
          </a:p>
          <a:p>
            <a:pPr>
              <a:spcAft>
                <a:spcPts val="400"/>
              </a:spcAft>
              <a:defRPr sz="1300">
                <a:solidFill>
                  <a:srgbClr val="94A3B8"/>
                </a:solidFill>
              </a:defRPr>
            </a:pPr>
            <a:r>
              <a:t>• Loud Industrial Siren Alarm</a:t>
            </a:r>
          </a:p>
          <a:p>
            <a:pPr>
              <a:spcAft>
                <a:spcPts val="400"/>
              </a:spcAft>
              <a:defRPr sz="1300">
                <a:solidFill>
                  <a:srgbClr val="94A3B8"/>
                </a:solidFill>
              </a:defRPr>
            </a:pPr>
            <a:r>
              <a:t>• Flashing HUD Warning Banner</a:t>
            </a:r>
          </a:p>
          <a:p>
            <a:pPr>
              <a:spcAft>
                <a:spcPts val="400"/>
              </a:spcAft>
              <a:defRPr sz="1300">
                <a:solidFill>
                  <a:srgbClr val="94A3B8"/>
                </a:solidFill>
              </a:defRPr>
            </a:pPr>
            <a:r>
              <a:t>• In-Camera Live Events Drawer</a:t>
            </a:r>
          </a:p>
          <a:p>
            <a:pPr>
              <a:spcAft>
                <a:spcPts val="400"/>
              </a:spcAft>
              <a:defRPr sz="1300">
                <a:solidFill>
                  <a:srgbClr val="94A3B8"/>
                </a:solidFill>
              </a:defRPr>
            </a:pPr>
            <a:r>
              <a:t>• CSV Audit Trail Logging</a:t>
            </a:r>
          </a:p>
          <a:p>
            <a:pPr>
              <a:spcAft>
                <a:spcPts val="400"/>
              </a:spcAft>
              <a:defRPr sz="1300">
                <a:solidFill>
                  <a:srgbClr val="94A3B8"/>
                </a:solidFill>
              </a:defRPr>
            </a:pPr>
            <a:r>
              <a:t>• Real-Time Web BI Dashboard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3657600" cy="365760"/>
          </a:xfrm>
          <a:prstGeom prst="rect">
            <a:avLst/>
          </a:prstGeom>
          <a:noFill/>
        </p:spPr>
        <p:txBody>
          <a:bodyPr wrap="square">
            <a:spAutoFit/>
          </a:bodyPr>
          <a:lstStyle/>
          <a:p>
            <a:pPr>
              <a:defRPr sz="1100" b="1">
                <a:solidFill>
                  <a:srgbClr val="06B6D4"/>
                </a:solidFill>
              </a:defRPr>
            </a:pPr>
            <a:r>
              <a:t>MODEL ACCURACY &amp; TRAINING</a:t>
            </a:r>
          </a:p>
        </p:txBody>
      </p:sp>
      <p:sp>
        <p:nvSpPr>
          <p:cNvPr id="4" name="TextBox 3"/>
          <p:cNvSpPr txBox="1"/>
          <p:nvPr/>
        </p:nvSpPr>
        <p:spPr>
          <a:xfrm>
            <a:off x="731520" y="731520"/>
            <a:ext cx="10698480" cy="640080"/>
          </a:xfrm>
          <a:prstGeom prst="rect">
            <a:avLst/>
          </a:prstGeom>
          <a:noFill/>
        </p:spPr>
        <p:txBody>
          <a:bodyPr wrap="square">
            <a:spAutoFit/>
          </a:bodyPr>
          <a:lstStyle/>
          <a:p>
            <a:pPr>
              <a:defRPr sz="2400" b="1">
                <a:solidFill>
                  <a:srgbClr val="F8FAFC"/>
                </a:solidFill>
              </a:defRPr>
            </a:pPr>
            <a:r>
              <a:t>Custom Fine-Tuned YOLOv8: 97.8% mAP on Real-World Factory Gear</a:t>
            </a:r>
          </a:p>
        </p:txBody>
      </p:sp>
      <p:sp>
        <p:nvSpPr>
          <p:cNvPr id="5" name="Rounded Rectangle 4"/>
          <p:cNvSpPr/>
          <p:nvPr/>
        </p:nvSpPr>
        <p:spPr>
          <a:xfrm>
            <a:off x="731520" y="1645920"/>
            <a:ext cx="2560320" cy="2103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28800"/>
            <a:ext cx="2103120" cy="1737360"/>
          </a:xfrm>
          <a:prstGeom prst="rect">
            <a:avLst/>
          </a:prstGeom>
          <a:noFill/>
        </p:spPr>
        <p:txBody>
          <a:bodyPr wrap="square">
            <a:spAutoFit/>
          </a:bodyPr>
          <a:lstStyle/>
          <a:p>
            <a:pPr>
              <a:spcAft>
                <a:spcPts val="800"/>
              </a:spcAft>
              <a:defRPr sz="1600" b="1">
                <a:solidFill>
                  <a:srgbClr val="F8FAFC"/>
                </a:solidFill>
              </a:defRPr>
            </a:pPr>
            <a:r>
              <a:t>97.8% mAP@50</a:t>
            </a:r>
          </a:p>
          <a:p>
            <a:pPr>
              <a:spcAft>
                <a:spcPts val="400"/>
              </a:spcAft>
              <a:defRPr sz="1300">
                <a:solidFill>
                  <a:srgbClr val="94A3B8"/>
                </a:solidFill>
              </a:defRPr>
            </a:pPr>
            <a:r>
              <a:t>Mean Average Precision across all equipment classes.</a:t>
            </a:r>
          </a:p>
        </p:txBody>
      </p:sp>
      <p:sp>
        <p:nvSpPr>
          <p:cNvPr id="7" name="Rounded Rectangle 6"/>
          <p:cNvSpPr/>
          <p:nvPr/>
        </p:nvSpPr>
        <p:spPr>
          <a:xfrm>
            <a:off x="3474720" y="1645920"/>
            <a:ext cx="2560320" cy="2103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703320" y="1828800"/>
            <a:ext cx="2103120" cy="1737360"/>
          </a:xfrm>
          <a:prstGeom prst="rect">
            <a:avLst/>
          </a:prstGeom>
          <a:noFill/>
        </p:spPr>
        <p:txBody>
          <a:bodyPr wrap="square">
            <a:spAutoFit/>
          </a:bodyPr>
          <a:lstStyle/>
          <a:p>
            <a:pPr>
              <a:spcAft>
                <a:spcPts val="800"/>
              </a:spcAft>
              <a:defRPr sz="1600" b="1">
                <a:solidFill>
                  <a:srgbClr val="F8FAFC"/>
                </a:solidFill>
              </a:defRPr>
            </a:pPr>
            <a:r>
              <a:t>91.4% Precision</a:t>
            </a:r>
          </a:p>
          <a:p>
            <a:pPr>
              <a:spcAft>
                <a:spcPts val="400"/>
              </a:spcAft>
              <a:defRPr sz="1300">
                <a:solidFill>
                  <a:srgbClr val="94A3B8"/>
                </a:solidFill>
              </a:defRPr>
            </a:pPr>
            <a:r>
              <a:t>High confidence detections with minimal false alarms.</a:t>
            </a:r>
          </a:p>
        </p:txBody>
      </p:sp>
      <p:sp>
        <p:nvSpPr>
          <p:cNvPr id="9" name="Rounded Rectangle 8"/>
          <p:cNvSpPr/>
          <p:nvPr/>
        </p:nvSpPr>
        <p:spPr>
          <a:xfrm>
            <a:off x="731520" y="3931920"/>
            <a:ext cx="2560320" cy="2103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4114800"/>
            <a:ext cx="2103120" cy="1737360"/>
          </a:xfrm>
          <a:prstGeom prst="rect">
            <a:avLst/>
          </a:prstGeom>
          <a:noFill/>
        </p:spPr>
        <p:txBody>
          <a:bodyPr wrap="square">
            <a:spAutoFit/>
          </a:bodyPr>
          <a:lstStyle/>
          <a:p>
            <a:pPr>
              <a:spcAft>
                <a:spcPts val="800"/>
              </a:spcAft>
              <a:defRPr sz="1600" b="1">
                <a:solidFill>
                  <a:srgbClr val="F8FAFC"/>
                </a:solidFill>
              </a:defRPr>
            </a:pPr>
            <a:r>
              <a:t>94.2% Recall</a:t>
            </a:r>
          </a:p>
          <a:p>
            <a:pPr>
              <a:spcAft>
                <a:spcPts val="400"/>
              </a:spcAft>
              <a:defRPr sz="1300">
                <a:solidFill>
                  <a:srgbClr val="94A3B8"/>
                </a:solidFill>
              </a:defRPr>
            </a:pPr>
            <a:r>
              <a:t>Reliably identifies missing helmets &amp; missing vests.</a:t>
            </a:r>
          </a:p>
        </p:txBody>
      </p:sp>
      <p:sp>
        <p:nvSpPr>
          <p:cNvPr id="11" name="Rounded Rectangle 10"/>
          <p:cNvSpPr/>
          <p:nvPr/>
        </p:nvSpPr>
        <p:spPr>
          <a:xfrm>
            <a:off x="3474720" y="3931920"/>
            <a:ext cx="2560320" cy="2103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03320" y="4114800"/>
            <a:ext cx="2103120" cy="1737360"/>
          </a:xfrm>
          <a:prstGeom prst="rect">
            <a:avLst/>
          </a:prstGeom>
          <a:noFill/>
        </p:spPr>
        <p:txBody>
          <a:bodyPr wrap="square">
            <a:spAutoFit/>
          </a:bodyPr>
          <a:lstStyle/>
          <a:p>
            <a:pPr>
              <a:spcAft>
                <a:spcPts val="800"/>
              </a:spcAft>
              <a:defRPr sz="1600" b="1">
                <a:solidFill>
                  <a:srgbClr val="F8FAFC"/>
                </a:solidFill>
              </a:defRPr>
            </a:pPr>
            <a:r>
              <a:t>10.8 ms Latency</a:t>
            </a:r>
          </a:p>
          <a:p>
            <a:pPr>
              <a:spcAft>
                <a:spcPts val="400"/>
              </a:spcAft>
              <a:defRPr sz="1300">
                <a:solidFill>
                  <a:srgbClr val="94A3B8"/>
                </a:solidFill>
              </a:defRPr>
            </a:pPr>
            <a:r>
              <a:t>~90 FPS throughput on NVIDIA RTX laptop GPU.</a:t>
            </a:r>
          </a:p>
        </p:txBody>
      </p:sp>
      <p:pic>
        <p:nvPicPr>
          <p:cNvPr id="13" name="Picture 12" descr="confusion_matrix_normalized.png"/>
          <p:cNvPicPr>
            <a:picLocks noChangeAspect="1"/>
          </p:cNvPicPr>
          <p:nvPr/>
        </p:nvPicPr>
        <p:blipFill>
          <a:blip r:embed="rId3"/>
          <a:stretch>
            <a:fillRect/>
          </a:stretch>
        </p:blipFill>
        <p:spPr>
          <a:xfrm>
            <a:off x="6309360" y="1645920"/>
            <a:ext cx="5120640" cy="43891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3657600" cy="365760"/>
          </a:xfrm>
          <a:prstGeom prst="rect">
            <a:avLst/>
          </a:prstGeom>
          <a:noFill/>
        </p:spPr>
        <p:txBody>
          <a:bodyPr wrap="square">
            <a:spAutoFit/>
          </a:bodyPr>
          <a:lstStyle/>
          <a:p>
            <a:pPr>
              <a:defRPr sz="1100" b="1">
                <a:solidFill>
                  <a:srgbClr val="06B6D4"/>
                </a:solidFill>
              </a:defRPr>
            </a:pPr>
            <a:r>
              <a:t>SAFETY INNOVATIONS</a:t>
            </a:r>
          </a:p>
        </p:txBody>
      </p:sp>
      <p:sp>
        <p:nvSpPr>
          <p:cNvPr id="4" name="TextBox 3"/>
          <p:cNvSpPr txBox="1"/>
          <p:nvPr/>
        </p:nvSpPr>
        <p:spPr>
          <a:xfrm>
            <a:off x="731520" y="731520"/>
            <a:ext cx="10698480" cy="640080"/>
          </a:xfrm>
          <a:prstGeom prst="rect">
            <a:avLst/>
          </a:prstGeom>
          <a:noFill/>
        </p:spPr>
        <p:txBody>
          <a:bodyPr wrap="square">
            <a:spAutoFit/>
          </a:bodyPr>
          <a:lstStyle/>
          <a:p>
            <a:pPr>
              <a:defRPr sz="2400" b="1">
                <a:solidFill>
                  <a:srgbClr val="F8FAFC"/>
                </a:solidFill>
              </a:defRPr>
            </a:pPr>
            <a:r>
              <a:t>Intelligent Safety Logic: Beyond Simple Object Detection</a:t>
            </a:r>
          </a:p>
        </p:txBody>
      </p:sp>
      <p:sp>
        <p:nvSpPr>
          <p:cNvPr id="5" name="Rounded Rectangle 4"/>
          <p:cNvSpPr/>
          <p:nvPr/>
        </p:nvSpPr>
        <p:spPr>
          <a:xfrm>
            <a:off x="731520" y="1645920"/>
            <a:ext cx="338328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28800"/>
            <a:ext cx="2926080" cy="4023359"/>
          </a:xfrm>
          <a:prstGeom prst="rect">
            <a:avLst/>
          </a:prstGeom>
          <a:noFill/>
        </p:spPr>
        <p:txBody>
          <a:bodyPr wrap="square">
            <a:spAutoFit/>
          </a:bodyPr>
          <a:lstStyle/>
          <a:p>
            <a:pPr>
              <a:spcAft>
                <a:spcPts val="800"/>
              </a:spcAft>
              <a:defRPr sz="1600" b="1">
                <a:solidFill>
                  <a:srgbClr val="F8FAFC"/>
                </a:solidFill>
              </a:defRPr>
            </a:pPr>
            <a:r>
              <a:t>1. Anatomical Box Association</a:t>
            </a:r>
          </a:p>
          <a:p>
            <a:pPr>
              <a:spcAft>
                <a:spcPts val="400"/>
              </a:spcAft>
              <a:defRPr sz="1300">
                <a:solidFill>
                  <a:srgbClr val="94A3B8"/>
                </a:solidFill>
              </a:defRPr>
            </a:pPr>
            <a:r>
              <a:t>• Standard AI merely counts objects ('1 person, 1 helmet').</a:t>
            </a:r>
          </a:p>
          <a:p>
            <a:pPr>
              <a:spcAft>
                <a:spcPts val="400"/>
              </a:spcAft>
              <a:defRPr sz="1300">
                <a:solidFill>
                  <a:srgbClr val="94A3B8"/>
                </a:solidFill>
              </a:defRPr>
            </a:pPr>
            <a:endParaRPr/>
          </a:p>
          <a:p>
            <a:pPr>
              <a:spcAft>
                <a:spcPts val="400"/>
              </a:spcAft>
              <a:defRPr sz="1300">
                <a:solidFill>
                  <a:srgbClr val="94A3B8"/>
                </a:solidFill>
              </a:defRPr>
            </a:pPr>
            <a:r>
              <a:t>• Our engine checks anatomical positioning:</a:t>
            </a:r>
          </a:p>
          <a:p>
            <a:pPr>
              <a:spcAft>
                <a:spcPts val="400"/>
              </a:spcAft>
              <a:defRPr sz="1300">
                <a:solidFill>
                  <a:srgbClr val="94A3B8"/>
                </a:solidFill>
              </a:defRPr>
            </a:pPr>
            <a:r>
              <a:t>  - Helmet must overlap Head Zone (top 25% of body)</a:t>
            </a:r>
          </a:p>
          <a:p>
            <a:pPr>
              <a:spcAft>
                <a:spcPts val="400"/>
              </a:spcAft>
              <a:defRPr sz="1300">
                <a:solidFill>
                  <a:srgbClr val="94A3B8"/>
                </a:solidFill>
              </a:defRPr>
            </a:pPr>
            <a:r>
              <a:t>  - Vest must overlap Torso Zone (mid 40% of body)</a:t>
            </a:r>
          </a:p>
          <a:p>
            <a:pPr>
              <a:spcAft>
                <a:spcPts val="400"/>
              </a:spcAft>
              <a:defRPr sz="1300">
                <a:solidFill>
                  <a:srgbClr val="94A3B8"/>
                </a:solidFill>
              </a:defRPr>
            </a:pPr>
            <a:endParaRPr/>
          </a:p>
          <a:p>
            <a:pPr>
              <a:spcAft>
                <a:spcPts val="400"/>
              </a:spcAft>
              <a:defRPr sz="1300">
                <a:solidFill>
                  <a:srgbClr val="94A3B8"/>
                </a:solidFill>
              </a:defRPr>
            </a:pPr>
            <a:r>
              <a:t>• If a worker is holding a hard hat in their hand, the system correctly flags them as NON-COMPLIANT.</a:t>
            </a:r>
          </a:p>
        </p:txBody>
      </p:sp>
      <p:sp>
        <p:nvSpPr>
          <p:cNvPr id="7" name="Rounded Rectangle 6"/>
          <p:cNvSpPr/>
          <p:nvPr/>
        </p:nvSpPr>
        <p:spPr>
          <a:xfrm>
            <a:off x="4389120" y="1645920"/>
            <a:ext cx="3383280" cy="4389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1828800"/>
            <a:ext cx="2926080" cy="4023359"/>
          </a:xfrm>
          <a:prstGeom prst="rect">
            <a:avLst/>
          </a:prstGeom>
          <a:noFill/>
        </p:spPr>
        <p:txBody>
          <a:bodyPr wrap="square">
            <a:spAutoFit/>
          </a:bodyPr>
          <a:lstStyle/>
          <a:p>
            <a:pPr>
              <a:spcAft>
                <a:spcPts val="800"/>
              </a:spcAft>
              <a:defRPr sz="1600" b="1">
                <a:solidFill>
                  <a:srgbClr val="F8FAFC"/>
                </a:solidFill>
              </a:defRPr>
            </a:pPr>
            <a:r>
              <a:t>2. Live Draggable Calibration</a:t>
            </a:r>
          </a:p>
          <a:p>
            <a:pPr>
              <a:spcAft>
                <a:spcPts val="400"/>
              </a:spcAft>
              <a:defRPr sz="1300">
                <a:solidFill>
                  <a:srgbClr val="94A3B8"/>
                </a:solidFill>
              </a:defRPr>
            </a:pPr>
            <a:r>
              <a:t>• Every machine cell has a unique physical layout.</a:t>
            </a:r>
          </a:p>
          <a:p>
            <a:pPr>
              <a:spcAft>
                <a:spcPts val="400"/>
              </a:spcAft>
              <a:defRPr sz="1300">
                <a:solidFill>
                  <a:srgbClr val="94A3B8"/>
                </a:solidFill>
              </a:defRPr>
            </a:pPr>
            <a:endParaRPr/>
          </a:p>
          <a:p>
            <a:pPr>
              <a:spcAft>
                <a:spcPts val="400"/>
              </a:spcAft>
              <a:defRPr sz="1300">
                <a:solidFill>
                  <a:srgbClr val="94A3B8"/>
                </a:solidFill>
              </a:defRPr>
            </a:pPr>
            <a:r>
              <a:t>• Operators can click and drag the yellow hazard borders directly on screen with the mouse.</a:t>
            </a:r>
          </a:p>
          <a:p>
            <a:pPr>
              <a:spcAft>
                <a:spcPts val="400"/>
              </a:spcAft>
              <a:defRPr sz="1300">
                <a:solidFill>
                  <a:srgbClr val="94A3B8"/>
                </a:solidFill>
              </a:defRPr>
            </a:pPr>
            <a:endParaRPr/>
          </a:p>
          <a:p>
            <a:pPr>
              <a:spcAft>
                <a:spcPts val="400"/>
              </a:spcAft>
              <a:defRPr sz="1300">
                <a:solidFill>
                  <a:srgbClr val="94A3B8"/>
                </a:solidFill>
              </a:defRPr>
            </a:pPr>
            <a:r>
              <a:t>• Mid-height handles display live percentage readouts without restarting the pipeline.</a:t>
            </a:r>
          </a:p>
          <a:p>
            <a:pPr>
              <a:spcAft>
                <a:spcPts val="400"/>
              </a:spcAft>
              <a:defRPr sz="1300">
                <a:solidFill>
                  <a:srgbClr val="94A3B8"/>
                </a:solidFill>
              </a:defRPr>
            </a:pPr>
            <a:endParaRPr/>
          </a:p>
          <a:p>
            <a:pPr>
              <a:spcAft>
                <a:spcPts val="400"/>
              </a:spcAft>
              <a:defRPr sz="1300">
                <a:solidFill>
                  <a:srgbClr val="94A3B8"/>
                </a:solidFill>
              </a:defRPr>
            </a:pPr>
            <a:r>
              <a:t>• Instantly aligns with physical floor tape on concrete.</a:t>
            </a:r>
          </a:p>
        </p:txBody>
      </p:sp>
      <p:sp>
        <p:nvSpPr>
          <p:cNvPr id="9" name="Rounded Rectangle 8"/>
          <p:cNvSpPr/>
          <p:nvPr/>
        </p:nvSpPr>
        <p:spPr>
          <a:xfrm>
            <a:off x="8046720" y="1645920"/>
            <a:ext cx="338328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75320" y="1828800"/>
            <a:ext cx="2926080" cy="4023359"/>
          </a:xfrm>
          <a:prstGeom prst="rect">
            <a:avLst/>
          </a:prstGeom>
          <a:noFill/>
        </p:spPr>
        <p:txBody>
          <a:bodyPr wrap="square">
            <a:spAutoFit/>
          </a:bodyPr>
          <a:lstStyle/>
          <a:p>
            <a:pPr>
              <a:spcAft>
                <a:spcPts val="800"/>
              </a:spcAft>
              <a:defRPr sz="1600" b="1">
                <a:solidFill>
                  <a:srgbClr val="F8FAFC"/>
                </a:solidFill>
              </a:defRPr>
            </a:pPr>
            <a:r>
              <a:t>3. Temporal Voting Consensus</a:t>
            </a:r>
          </a:p>
          <a:p>
            <a:pPr>
              <a:spcAft>
                <a:spcPts val="400"/>
              </a:spcAft>
              <a:defRPr sz="1300">
                <a:solidFill>
                  <a:srgbClr val="94A3B8"/>
                </a:solidFill>
              </a:defRPr>
            </a:pPr>
            <a:r>
              <a:t>• Raw neural networks often flicker for a single frame when a worker turns their head.</a:t>
            </a:r>
          </a:p>
          <a:p>
            <a:pPr>
              <a:spcAft>
                <a:spcPts val="400"/>
              </a:spcAft>
              <a:defRPr sz="1300">
                <a:solidFill>
                  <a:srgbClr val="94A3B8"/>
                </a:solidFill>
              </a:defRPr>
            </a:pPr>
            <a:endParaRPr/>
          </a:p>
          <a:p>
            <a:pPr>
              <a:spcAft>
                <a:spcPts val="400"/>
              </a:spcAft>
              <a:defRPr sz="1300">
                <a:solidFill>
                  <a:srgbClr val="94A3B8"/>
                </a:solidFill>
              </a:defRPr>
            </a:pPr>
            <a:r>
              <a:t>• Our system uses a rolling 8-frame temporal voting consensus.</a:t>
            </a:r>
          </a:p>
          <a:p>
            <a:pPr>
              <a:spcAft>
                <a:spcPts val="400"/>
              </a:spcAft>
              <a:defRPr sz="1300">
                <a:solidFill>
                  <a:srgbClr val="94A3B8"/>
                </a:solidFill>
              </a:defRPr>
            </a:pPr>
            <a:endParaRPr/>
          </a:p>
          <a:p>
            <a:pPr>
              <a:spcAft>
                <a:spcPts val="400"/>
              </a:spcAft>
              <a:defRPr sz="1300">
                <a:solidFill>
                  <a:srgbClr val="94A3B8"/>
                </a:solidFill>
              </a:defRPr>
            </a:pPr>
            <a:r>
              <a:t>• Requires sustained missing evidence before triggering an alarm.</a:t>
            </a:r>
          </a:p>
          <a:p>
            <a:pPr>
              <a:spcAft>
                <a:spcPts val="400"/>
              </a:spcAft>
              <a:defRPr sz="1300">
                <a:solidFill>
                  <a:srgbClr val="94A3B8"/>
                </a:solidFill>
              </a:defRPr>
            </a:pPr>
            <a:endParaRPr/>
          </a:p>
          <a:p>
            <a:pPr>
              <a:spcAft>
                <a:spcPts val="400"/>
              </a:spcAft>
              <a:defRPr sz="1300">
                <a:solidFill>
                  <a:srgbClr val="94A3B8"/>
                </a:solidFill>
              </a:defRPr>
            </a:pPr>
            <a:r>
              <a:t>• Eliminates false nuisance alarms that cause alarm fatigue.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3657600" cy="365760"/>
          </a:xfrm>
          <a:prstGeom prst="rect">
            <a:avLst/>
          </a:prstGeom>
          <a:noFill/>
        </p:spPr>
        <p:txBody>
          <a:bodyPr wrap="square">
            <a:spAutoFit/>
          </a:bodyPr>
          <a:lstStyle/>
          <a:p>
            <a:pPr>
              <a:defRPr sz="1100" b="1">
                <a:solidFill>
                  <a:srgbClr val="06B6D4"/>
                </a:solidFill>
              </a:defRPr>
            </a:pPr>
            <a:r>
              <a:t>ENFORCEMENT &amp; ALERTS</a:t>
            </a:r>
          </a:p>
        </p:txBody>
      </p:sp>
      <p:sp>
        <p:nvSpPr>
          <p:cNvPr id="4" name="TextBox 3"/>
          <p:cNvSpPr txBox="1"/>
          <p:nvPr/>
        </p:nvSpPr>
        <p:spPr>
          <a:xfrm>
            <a:off x="731520" y="731520"/>
            <a:ext cx="10698480" cy="640080"/>
          </a:xfrm>
          <a:prstGeom prst="rect">
            <a:avLst/>
          </a:prstGeom>
          <a:noFill/>
        </p:spPr>
        <p:txBody>
          <a:bodyPr wrap="square">
            <a:spAutoFit/>
          </a:bodyPr>
          <a:lstStyle/>
          <a:p>
            <a:pPr>
              <a:defRPr sz="2400" b="1">
                <a:solidFill>
                  <a:srgbClr val="F8FAFC"/>
                </a:solidFill>
              </a:defRPr>
            </a:pPr>
            <a:r>
              <a:t>Multi-Channel Alerting: Instant Industrial Warning &amp; Audit Logging</a:t>
            </a:r>
          </a:p>
        </p:txBody>
      </p:sp>
      <p:sp>
        <p:nvSpPr>
          <p:cNvPr id="5" name="Rounded Rectangle 4"/>
          <p:cNvSpPr/>
          <p:nvPr/>
        </p:nvSpPr>
        <p:spPr>
          <a:xfrm>
            <a:off x="731520" y="1645920"/>
            <a:ext cx="3383280" cy="438912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28800"/>
            <a:ext cx="2926080" cy="4023359"/>
          </a:xfrm>
          <a:prstGeom prst="rect">
            <a:avLst/>
          </a:prstGeom>
          <a:noFill/>
        </p:spPr>
        <p:txBody>
          <a:bodyPr wrap="square">
            <a:spAutoFit/>
          </a:bodyPr>
          <a:lstStyle/>
          <a:p>
            <a:pPr>
              <a:spcAft>
                <a:spcPts val="800"/>
              </a:spcAft>
              <a:defRPr sz="1600" b="1">
                <a:solidFill>
                  <a:srgbClr val="F8FAFC"/>
                </a:solidFill>
              </a:defRPr>
            </a:pPr>
            <a:r>
              <a:t>🚨 High-Decibel Siren</a:t>
            </a:r>
          </a:p>
          <a:p>
            <a:pPr>
              <a:spcAft>
                <a:spcPts val="400"/>
              </a:spcAft>
              <a:defRPr sz="1300">
                <a:solidFill>
                  <a:srgbClr val="94A3B8"/>
                </a:solidFill>
              </a:defRPr>
            </a:pPr>
            <a:r>
              <a:t>• Upgraded dual-tone industrial siren (2400 Hz ⇄ 1100 Hz).</a:t>
            </a:r>
          </a:p>
          <a:p>
            <a:pPr>
              <a:spcAft>
                <a:spcPts val="400"/>
              </a:spcAft>
              <a:defRPr sz="1300">
                <a:solidFill>
                  <a:srgbClr val="94A3B8"/>
                </a:solidFill>
              </a:defRPr>
            </a:pPr>
            <a:endParaRPr/>
          </a:p>
          <a:p>
            <a:pPr>
              <a:spcAft>
                <a:spcPts val="400"/>
              </a:spcAft>
              <a:defRPr sz="1300">
                <a:solidFill>
                  <a:srgbClr val="94A3B8"/>
                </a:solidFill>
              </a:defRPr>
            </a:pPr>
            <a:r>
              <a:t>• Played through Windows Multimedia subsystem at master speaker volume (not quiet motherboard beeps).</a:t>
            </a:r>
          </a:p>
          <a:p>
            <a:pPr>
              <a:spcAft>
                <a:spcPts val="400"/>
              </a:spcAft>
              <a:defRPr sz="1300">
                <a:solidFill>
                  <a:srgbClr val="94A3B8"/>
                </a:solidFill>
              </a:defRPr>
            </a:pPr>
            <a:endParaRPr/>
          </a:p>
          <a:p>
            <a:pPr>
              <a:spcAft>
                <a:spcPts val="400"/>
              </a:spcAft>
              <a:defRPr sz="1300">
                <a:solidFill>
                  <a:srgbClr val="94A3B8"/>
                </a:solidFill>
              </a:defRPr>
            </a:pPr>
            <a:r>
              <a:t>• Immediately sounds when an unprotected worker crosses the boundary.</a:t>
            </a:r>
          </a:p>
          <a:p>
            <a:pPr>
              <a:spcAft>
                <a:spcPts val="400"/>
              </a:spcAft>
              <a:defRPr sz="1300">
                <a:solidFill>
                  <a:srgbClr val="94A3B8"/>
                </a:solidFill>
              </a:defRPr>
            </a:pPr>
            <a:endParaRPr/>
          </a:p>
          <a:p>
            <a:pPr>
              <a:spcAft>
                <a:spcPts val="400"/>
              </a:spcAft>
              <a:defRPr sz="1300">
                <a:solidFill>
                  <a:srgbClr val="94A3B8"/>
                </a:solidFill>
              </a:defRPr>
            </a:pPr>
            <a:r>
              <a:t>• Repeats every 1.0s while inside the danger zone.</a:t>
            </a:r>
          </a:p>
        </p:txBody>
      </p:sp>
      <p:sp>
        <p:nvSpPr>
          <p:cNvPr id="7" name="Rounded Rectangle 6"/>
          <p:cNvSpPr/>
          <p:nvPr/>
        </p:nvSpPr>
        <p:spPr>
          <a:xfrm>
            <a:off x="4389120" y="1645920"/>
            <a:ext cx="338328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1828800"/>
            <a:ext cx="2926080" cy="4023359"/>
          </a:xfrm>
          <a:prstGeom prst="rect">
            <a:avLst/>
          </a:prstGeom>
          <a:noFill/>
        </p:spPr>
        <p:txBody>
          <a:bodyPr wrap="square">
            <a:spAutoFit/>
          </a:bodyPr>
          <a:lstStyle/>
          <a:p>
            <a:pPr>
              <a:spcAft>
                <a:spcPts val="800"/>
              </a:spcAft>
              <a:defRPr sz="1600" b="1">
                <a:solidFill>
                  <a:srgbClr val="F8FAFC"/>
                </a:solidFill>
              </a:defRPr>
            </a:pPr>
            <a:r>
              <a:t>📋 In-Camera Events Drawer</a:t>
            </a:r>
          </a:p>
          <a:p>
            <a:pPr>
              <a:spcAft>
                <a:spcPts val="400"/>
              </a:spcAft>
              <a:defRPr sz="1300">
                <a:solidFill>
                  <a:srgbClr val="94A3B8"/>
                </a:solidFill>
              </a:defRPr>
            </a:pPr>
            <a:r>
              <a:t>• Interactive [📋 Events] button in top-right corner of live camera window.</a:t>
            </a:r>
          </a:p>
          <a:p>
            <a:pPr>
              <a:spcAft>
                <a:spcPts val="400"/>
              </a:spcAft>
              <a:defRPr sz="1300">
                <a:solidFill>
                  <a:srgbClr val="94A3B8"/>
                </a:solidFill>
              </a:defRPr>
            </a:pPr>
            <a:endParaRPr/>
          </a:p>
          <a:p>
            <a:pPr>
              <a:spcAft>
                <a:spcPts val="400"/>
              </a:spcAft>
              <a:defRPr sz="1300">
                <a:solidFill>
                  <a:srgbClr val="94A3B8"/>
                </a:solidFill>
              </a:defRPr>
            </a:pPr>
            <a:r>
              <a:t>• Clicking it (or pressing 'E') slides open a sleek semi-transparent audit drawer.</a:t>
            </a:r>
          </a:p>
          <a:p>
            <a:pPr>
              <a:spcAft>
                <a:spcPts val="400"/>
              </a:spcAft>
              <a:defRPr sz="1300">
                <a:solidFill>
                  <a:srgbClr val="94A3B8"/>
                </a:solidFill>
              </a:defRPr>
            </a:pPr>
            <a:endParaRPr/>
          </a:p>
          <a:p>
            <a:pPr>
              <a:spcAft>
                <a:spcPts val="400"/>
              </a:spcAft>
              <a:defRPr sz="1300">
                <a:solidFill>
                  <a:srgbClr val="94A3B8"/>
                </a:solidFill>
              </a:defRPr>
            </a:pPr>
            <a:r>
              <a:t>• Displays last 6 incidents with worker ID, timestamp, and missing gear.</a:t>
            </a:r>
          </a:p>
          <a:p>
            <a:pPr>
              <a:spcAft>
                <a:spcPts val="400"/>
              </a:spcAft>
              <a:defRPr sz="1300">
                <a:solidFill>
                  <a:srgbClr val="94A3B8"/>
                </a:solidFill>
              </a:defRPr>
            </a:pPr>
            <a:endParaRPr/>
          </a:p>
          <a:p>
            <a:pPr>
              <a:spcAft>
                <a:spcPts val="400"/>
              </a:spcAft>
              <a:defRPr sz="1300">
                <a:solidFill>
                  <a:srgbClr val="94A3B8"/>
                </a:solidFill>
              </a:defRPr>
            </a:pPr>
            <a:r>
              <a:t>• Supervisors verify violations without leaving the camera feed.</a:t>
            </a:r>
          </a:p>
        </p:txBody>
      </p:sp>
      <p:sp>
        <p:nvSpPr>
          <p:cNvPr id="9" name="Rounded Rectangle 8"/>
          <p:cNvSpPr/>
          <p:nvPr/>
        </p:nvSpPr>
        <p:spPr>
          <a:xfrm>
            <a:off x="8046720" y="1645920"/>
            <a:ext cx="338328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75320" y="1828800"/>
            <a:ext cx="2926080" cy="4023359"/>
          </a:xfrm>
          <a:prstGeom prst="rect">
            <a:avLst/>
          </a:prstGeom>
          <a:noFill/>
        </p:spPr>
        <p:txBody>
          <a:bodyPr wrap="square">
            <a:spAutoFit/>
          </a:bodyPr>
          <a:lstStyle/>
          <a:p>
            <a:pPr>
              <a:spcAft>
                <a:spcPts val="800"/>
              </a:spcAft>
              <a:defRPr sz="1600" b="1">
                <a:solidFill>
                  <a:srgbClr val="F8FAFC"/>
                </a:solidFill>
              </a:defRPr>
            </a:pPr>
            <a:r>
              <a:t>📊 1-Click Dashboard Link</a:t>
            </a:r>
          </a:p>
          <a:p>
            <a:pPr>
              <a:spcAft>
                <a:spcPts val="400"/>
              </a:spcAft>
              <a:defRPr sz="1300">
                <a:solidFill>
                  <a:srgbClr val="94A3B8"/>
                </a:solidFill>
              </a:defRPr>
            </a:pPr>
            <a:r>
              <a:t>• Interactive [🌐 Dashboard] button in the live camera window.</a:t>
            </a:r>
          </a:p>
          <a:p>
            <a:pPr>
              <a:spcAft>
                <a:spcPts val="400"/>
              </a:spcAft>
              <a:defRPr sz="1300">
                <a:solidFill>
                  <a:srgbClr val="94A3B8"/>
                </a:solidFill>
              </a:defRPr>
            </a:pPr>
            <a:endParaRPr/>
          </a:p>
          <a:p>
            <a:pPr>
              <a:spcAft>
                <a:spcPts val="400"/>
              </a:spcAft>
              <a:defRPr sz="1300">
                <a:solidFill>
                  <a:srgbClr val="94A3B8"/>
                </a:solidFill>
              </a:defRPr>
            </a:pPr>
            <a:r>
              <a:t>• Clicking it (or pressing 'D') immediately launches the executive web dashboard in the browser.</a:t>
            </a:r>
          </a:p>
          <a:p>
            <a:pPr>
              <a:spcAft>
                <a:spcPts val="400"/>
              </a:spcAft>
              <a:defRPr sz="1300">
                <a:solidFill>
                  <a:srgbClr val="94A3B8"/>
                </a:solidFill>
              </a:defRPr>
            </a:pPr>
            <a:endParaRPr/>
          </a:p>
          <a:p>
            <a:pPr>
              <a:spcAft>
                <a:spcPts val="400"/>
              </a:spcAft>
              <a:defRPr sz="1300">
                <a:solidFill>
                  <a:srgbClr val="94A3B8"/>
                </a:solidFill>
              </a:defRPr>
            </a:pPr>
            <a:r>
              <a:t>• Provides historical shift compliance rates and incident charts.</a:t>
            </a:r>
          </a:p>
          <a:p>
            <a:pPr>
              <a:spcAft>
                <a:spcPts val="400"/>
              </a:spcAft>
              <a:defRPr sz="1300">
                <a:solidFill>
                  <a:srgbClr val="94A3B8"/>
                </a:solidFill>
              </a:defRPr>
            </a:pPr>
            <a:endParaRPr/>
          </a:p>
          <a:p>
            <a:pPr>
              <a:spcAft>
                <a:spcPts val="400"/>
              </a:spcAft>
              <a:defRPr sz="1300">
                <a:solidFill>
                  <a:srgbClr val="94A3B8"/>
                </a:solidFill>
              </a:defRPr>
            </a:pPr>
            <a:r>
              <a:t>• Bridges live operator view with executive safety management.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3657600" cy="365760"/>
          </a:xfrm>
          <a:prstGeom prst="rect">
            <a:avLst/>
          </a:prstGeom>
          <a:noFill/>
        </p:spPr>
        <p:txBody>
          <a:bodyPr wrap="square">
            <a:spAutoFit/>
          </a:bodyPr>
          <a:lstStyle/>
          <a:p>
            <a:pPr>
              <a:defRPr sz="1100" b="1">
                <a:solidFill>
                  <a:srgbClr val="06B6D4"/>
                </a:solidFill>
              </a:defRPr>
            </a:pPr>
            <a:r>
              <a:t>DEMONSTRATION PLAYBOOK</a:t>
            </a:r>
          </a:p>
        </p:txBody>
      </p:sp>
      <p:sp>
        <p:nvSpPr>
          <p:cNvPr id="4" name="TextBox 3"/>
          <p:cNvSpPr txBox="1"/>
          <p:nvPr/>
        </p:nvSpPr>
        <p:spPr>
          <a:xfrm>
            <a:off x="731520" y="731520"/>
            <a:ext cx="10698480" cy="640080"/>
          </a:xfrm>
          <a:prstGeom prst="rect">
            <a:avLst/>
          </a:prstGeom>
          <a:noFill/>
        </p:spPr>
        <p:txBody>
          <a:bodyPr wrap="square">
            <a:spAutoFit/>
          </a:bodyPr>
          <a:lstStyle/>
          <a:p>
            <a:pPr>
              <a:defRPr sz="2400" b="1">
                <a:solidFill>
                  <a:srgbClr val="F8FAFC"/>
                </a:solidFill>
              </a:defRPr>
            </a:pPr>
            <a:r>
              <a:t>Live Demonstration Script: What You Will See Right Now</a:t>
            </a:r>
          </a:p>
        </p:txBody>
      </p:sp>
      <p:sp>
        <p:nvSpPr>
          <p:cNvPr id="5" name="Rounded Rectangle 4"/>
          <p:cNvSpPr/>
          <p:nvPr/>
        </p:nvSpPr>
        <p:spPr>
          <a:xfrm>
            <a:off x="731520" y="1645920"/>
            <a:ext cx="246888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28800"/>
            <a:ext cx="2011680" cy="4023359"/>
          </a:xfrm>
          <a:prstGeom prst="rect">
            <a:avLst/>
          </a:prstGeom>
          <a:noFill/>
        </p:spPr>
        <p:txBody>
          <a:bodyPr wrap="square">
            <a:spAutoFit/>
          </a:bodyPr>
          <a:lstStyle/>
          <a:p>
            <a:pPr>
              <a:spcAft>
                <a:spcPts val="800"/>
              </a:spcAft>
              <a:defRPr sz="1600" b="1">
                <a:solidFill>
                  <a:srgbClr val="F8FAFC"/>
                </a:solidFill>
              </a:defRPr>
            </a:pPr>
            <a:r>
              <a:t>Scenario A: Safe Entry</a:t>
            </a:r>
          </a:p>
          <a:p>
            <a:pPr>
              <a:spcAft>
                <a:spcPts val="400"/>
              </a:spcAft>
              <a:defRPr sz="1300">
                <a:solidFill>
                  <a:srgbClr val="94A3B8"/>
                </a:solidFill>
              </a:defRPr>
            </a:pPr>
            <a:r>
              <a:t>1. Put on helmet &amp; vest.</a:t>
            </a:r>
          </a:p>
          <a:p>
            <a:pPr>
              <a:spcAft>
                <a:spcPts val="400"/>
              </a:spcAft>
              <a:defRPr sz="1300">
                <a:solidFill>
                  <a:srgbClr val="94A3B8"/>
                </a:solidFill>
              </a:defRPr>
            </a:pPr>
            <a:endParaRPr/>
          </a:p>
          <a:p>
            <a:pPr>
              <a:spcAft>
                <a:spcPts val="400"/>
              </a:spcAft>
              <a:defRPr sz="1300">
                <a:solidFill>
                  <a:srgbClr val="94A3B8"/>
                </a:solidFill>
              </a:defRPr>
            </a:pPr>
            <a:r>
              <a:t>2. System HUD displays green COMPLIANT badge.</a:t>
            </a:r>
          </a:p>
          <a:p>
            <a:pPr>
              <a:spcAft>
                <a:spcPts val="400"/>
              </a:spcAft>
              <a:defRPr sz="1300">
                <a:solidFill>
                  <a:srgbClr val="94A3B8"/>
                </a:solidFill>
              </a:defRPr>
            </a:pPr>
            <a:endParaRPr/>
          </a:p>
          <a:p>
            <a:pPr>
              <a:spcAft>
                <a:spcPts val="400"/>
              </a:spcAft>
              <a:defRPr sz="1300">
                <a:solidFill>
                  <a:srgbClr val="94A3B8"/>
                </a:solidFill>
              </a:defRPr>
            </a:pPr>
            <a:r>
              <a:t>3. Worker steps across yellow floor tape into machine zone.</a:t>
            </a:r>
          </a:p>
          <a:p>
            <a:pPr>
              <a:spcAft>
                <a:spcPts val="400"/>
              </a:spcAft>
              <a:defRPr sz="1300">
                <a:solidFill>
                  <a:srgbClr val="94A3B8"/>
                </a:solidFill>
              </a:defRPr>
            </a:pPr>
            <a:endParaRPr/>
          </a:p>
          <a:p>
            <a:pPr>
              <a:spcAft>
                <a:spcPts val="400"/>
              </a:spcAft>
              <a:defRPr sz="1300">
                <a:solidFill>
                  <a:srgbClr val="94A3B8"/>
                </a:solidFill>
              </a:defRPr>
            </a:pPr>
            <a:r>
              <a:t>4. Zero alarm sounds. Safe compliant crossing logged quietly.</a:t>
            </a:r>
          </a:p>
        </p:txBody>
      </p:sp>
      <p:sp>
        <p:nvSpPr>
          <p:cNvPr id="7" name="Rounded Rectangle 6"/>
          <p:cNvSpPr/>
          <p:nvPr/>
        </p:nvSpPr>
        <p:spPr>
          <a:xfrm>
            <a:off x="3474720" y="1645920"/>
            <a:ext cx="2468880" cy="438912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703320" y="1828800"/>
            <a:ext cx="2011680" cy="4023359"/>
          </a:xfrm>
          <a:prstGeom prst="rect">
            <a:avLst/>
          </a:prstGeom>
          <a:noFill/>
        </p:spPr>
        <p:txBody>
          <a:bodyPr wrap="square">
            <a:spAutoFit/>
          </a:bodyPr>
          <a:lstStyle/>
          <a:p>
            <a:pPr>
              <a:spcAft>
                <a:spcPts val="800"/>
              </a:spcAft>
              <a:defRPr sz="1600" b="1">
                <a:solidFill>
                  <a:srgbClr val="F8FAFC"/>
                </a:solidFill>
              </a:defRPr>
            </a:pPr>
            <a:r>
              <a:t>Scenario B: Zone Breach</a:t>
            </a:r>
          </a:p>
          <a:p>
            <a:pPr>
              <a:spcAft>
                <a:spcPts val="400"/>
              </a:spcAft>
              <a:defRPr sz="1300">
                <a:solidFill>
                  <a:srgbClr val="94A3B8"/>
                </a:solidFill>
              </a:defRPr>
            </a:pPr>
            <a:r>
              <a:t>1. Remove helmet or vest.</a:t>
            </a:r>
          </a:p>
          <a:p>
            <a:pPr>
              <a:spcAft>
                <a:spcPts val="400"/>
              </a:spcAft>
              <a:defRPr sz="1300">
                <a:solidFill>
                  <a:srgbClr val="94A3B8"/>
                </a:solidFill>
              </a:defRPr>
            </a:pPr>
            <a:endParaRPr/>
          </a:p>
          <a:p>
            <a:pPr>
              <a:spcAft>
                <a:spcPts val="400"/>
              </a:spcAft>
              <a:defRPr sz="1300">
                <a:solidFill>
                  <a:srgbClr val="94A3B8"/>
                </a:solidFill>
              </a:defRPr>
            </a:pPr>
            <a:r>
              <a:t>2. Status shifts to red NON-COMPLIANT.</a:t>
            </a:r>
          </a:p>
          <a:p>
            <a:pPr>
              <a:spcAft>
                <a:spcPts val="400"/>
              </a:spcAft>
              <a:defRPr sz="1300">
                <a:solidFill>
                  <a:srgbClr val="94A3B8"/>
                </a:solidFill>
              </a:defRPr>
            </a:pPr>
            <a:endParaRPr/>
          </a:p>
          <a:p>
            <a:pPr>
              <a:spcAft>
                <a:spcPts val="400"/>
              </a:spcAft>
              <a:defRPr sz="1300">
                <a:solidFill>
                  <a:srgbClr val="94A3B8"/>
                </a:solidFill>
              </a:defRPr>
            </a:pPr>
            <a:r>
              <a:t>3. Worker steps across yellow floor tape.</a:t>
            </a:r>
          </a:p>
          <a:p>
            <a:pPr>
              <a:spcAft>
                <a:spcPts val="400"/>
              </a:spcAft>
              <a:defRPr sz="1300">
                <a:solidFill>
                  <a:srgbClr val="94A3B8"/>
                </a:solidFill>
              </a:defRPr>
            </a:pPr>
            <a:endParaRPr/>
          </a:p>
          <a:p>
            <a:pPr>
              <a:spcAft>
                <a:spcPts val="400"/>
              </a:spcAft>
              <a:defRPr sz="1300">
                <a:solidFill>
                  <a:srgbClr val="94A3B8"/>
                </a:solidFill>
              </a:defRPr>
            </a:pPr>
            <a:r>
              <a:t>4. Loud siren alarm sounds immediately; red warning banner flashes across screen.</a:t>
            </a:r>
          </a:p>
        </p:txBody>
      </p:sp>
      <p:sp>
        <p:nvSpPr>
          <p:cNvPr id="9" name="Rounded Rectangle 8"/>
          <p:cNvSpPr/>
          <p:nvPr/>
        </p:nvSpPr>
        <p:spPr>
          <a:xfrm>
            <a:off x="6217920" y="1645920"/>
            <a:ext cx="246888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828800"/>
            <a:ext cx="2011680" cy="4023359"/>
          </a:xfrm>
          <a:prstGeom prst="rect">
            <a:avLst/>
          </a:prstGeom>
          <a:noFill/>
        </p:spPr>
        <p:txBody>
          <a:bodyPr wrap="square">
            <a:spAutoFit/>
          </a:bodyPr>
          <a:lstStyle/>
          <a:p>
            <a:pPr>
              <a:spcAft>
                <a:spcPts val="800"/>
              </a:spcAft>
              <a:defRPr sz="1600" b="1">
                <a:solidFill>
                  <a:srgbClr val="F8FAFC"/>
                </a:solidFill>
              </a:defRPr>
            </a:pPr>
            <a:r>
              <a:t>Scenario C: In-Camera Audit</a:t>
            </a:r>
          </a:p>
          <a:p>
            <a:pPr>
              <a:spcAft>
                <a:spcPts val="400"/>
              </a:spcAft>
              <a:defRPr sz="1300">
                <a:solidFill>
                  <a:srgbClr val="94A3B8"/>
                </a:solidFill>
              </a:defRPr>
            </a:pPr>
            <a:r>
              <a:t>1. Supervisor clicks [📋 Events] button (or presses 'E').</a:t>
            </a:r>
          </a:p>
          <a:p>
            <a:pPr>
              <a:spcAft>
                <a:spcPts val="400"/>
              </a:spcAft>
              <a:defRPr sz="1300">
                <a:solidFill>
                  <a:srgbClr val="94A3B8"/>
                </a:solidFill>
              </a:defRPr>
            </a:pPr>
            <a:endParaRPr/>
          </a:p>
          <a:p>
            <a:pPr>
              <a:spcAft>
                <a:spcPts val="400"/>
              </a:spcAft>
              <a:defRPr sz="1300">
                <a:solidFill>
                  <a:srgbClr val="94A3B8"/>
                </a:solidFill>
              </a:defRPr>
            </a:pPr>
            <a:r>
              <a:t>2. Semi-transparent audit drawer slides out on camera feed.</a:t>
            </a:r>
          </a:p>
          <a:p>
            <a:pPr>
              <a:spcAft>
                <a:spcPts val="400"/>
              </a:spcAft>
              <a:defRPr sz="1300">
                <a:solidFill>
                  <a:srgbClr val="94A3B8"/>
                </a:solidFill>
              </a:defRPr>
            </a:pPr>
            <a:endParaRPr/>
          </a:p>
          <a:p>
            <a:pPr>
              <a:spcAft>
                <a:spcPts val="400"/>
              </a:spcAft>
              <a:defRPr sz="1300">
                <a:solidFill>
                  <a:srgbClr val="94A3B8"/>
                </a:solidFill>
              </a:defRPr>
            </a:pPr>
            <a:r>
              <a:t>3. Shows Worker ID, time, missing item (e.g. Helmet: MISSING).</a:t>
            </a:r>
          </a:p>
          <a:p>
            <a:pPr>
              <a:spcAft>
                <a:spcPts val="400"/>
              </a:spcAft>
              <a:defRPr sz="1300">
                <a:solidFill>
                  <a:srgbClr val="94A3B8"/>
                </a:solidFill>
              </a:defRPr>
            </a:pPr>
            <a:endParaRPr/>
          </a:p>
          <a:p>
            <a:pPr>
              <a:spcAft>
                <a:spcPts val="400"/>
              </a:spcAft>
              <a:defRPr sz="1300">
                <a:solidFill>
                  <a:srgbClr val="94A3B8"/>
                </a:solidFill>
              </a:defRPr>
            </a:pPr>
            <a:r>
              <a:t>4. Verified without leaving screen.</a:t>
            </a:r>
          </a:p>
        </p:txBody>
      </p:sp>
      <p:sp>
        <p:nvSpPr>
          <p:cNvPr id="11" name="Rounded Rectangle 10"/>
          <p:cNvSpPr/>
          <p:nvPr/>
        </p:nvSpPr>
        <p:spPr>
          <a:xfrm>
            <a:off x="8961120" y="1645920"/>
            <a:ext cx="246888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89720" y="1828800"/>
            <a:ext cx="2011680" cy="4023359"/>
          </a:xfrm>
          <a:prstGeom prst="rect">
            <a:avLst/>
          </a:prstGeom>
          <a:noFill/>
        </p:spPr>
        <p:txBody>
          <a:bodyPr wrap="square">
            <a:spAutoFit/>
          </a:bodyPr>
          <a:lstStyle/>
          <a:p>
            <a:pPr>
              <a:spcAft>
                <a:spcPts val="800"/>
              </a:spcAft>
              <a:defRPr sz="1600" b="1">
                <a:solidFill>
                  <a:srgbClr val="F8FAFC"/>
                </a:solidFill>
              </a:defRPr>
            </a:pPr>
            <a:r>
              <a:t>Scenario D: Web Analytics</a:t>
            </a:r>
          </a:p>
          <a:p>
            <a:pPr>
              <a:spcAft>
                <a:spcPts val="400"/>
              </a:spcAft>
              <a:defRPr sz="1300">
                <a:solidFill>
                  <a:srgbClr val="94A3B8"/>
                </a:solidFill>
              </a:defRPr>
            </a:pPr>
            <a:r>
              <a:t>1. Click [🌐 Dashboard] button (or press 'D').</a:t>
            </a:r>
          </a:p>
          <a:p>
            <a:pPr>
              <a:spcAft>
                <a:spcPts val="400"/>
              </a:spcAft>
              <a:defRPr sz="1300">
                <a:solidFill>
                  <a:srgbClr val="94A3B8"/>
                </a:solidFill>
              </a:defRPr>
            </a:pPr>
            <a:endParaRPr/>
          </a:p>
          <a:p>
            <a:pPr>
              <a:spcAft>
                <a:spcPts val="400"/>
              </a:spcAft>
              <a:defRPr sz="1300">
                <a:solidFill>
                  <a:srgbClr val="94A3B8"/>
                </a:solidFill>
              </a:defRPr>
            </a:pPr>
            <a:r>
              <a:t>2. Opens Web Dashboard at localhost:8080.</a:t>
            </a:r>
          </a:p>
          <a:p>
            <a:pPr>
              <a:spcAft>
                <a:spcPts val="400"/>
              </a:spcAft>
              <a:defRPr sz="1300">
                <a:solidFill>
                  <a:srgbClr val="94A3B8"/>
                </a:solidFill>
              </a:defRPr>
            </a:pPr>
            <a:endParaRPr/>
          </a:p>
          <a:p>
            <a:pPr>
              <a:spcAft>
                <a:spcPts val="400"/>
              </a:spcAft>
              <a:defRPr sz="1300">
                <a:solidFill>
                  <a:srgbClr val="94A3B8"/>
                </a:solidFill>
              </a:defRPr>
            </a:pPr>
            <a:r>
              <a:t>3. Real-time shift compliance percentage &amp; hourly breach graph.</a:t>
            </a:r>
          </a:p>
          <a:p>
            <a:pPr>
              <a:spcAft>
                <a:spcPts val="400"/>
              </a:spcAft>
              <a:defRPr sz="1300">
                <a:solidFill>
                  <a:srgbClr val="94A3B8"/>
                </a:solidFill>
              </a:defRPr>
            </a:pPr>
            <a:endParaRPr/>
          </a:p>
          <a:p>
            <a:pPr>
              <a:spcAft>
                <a:spcPts val="400"/>
              </a:spcAft>
              <a:defRPr sz="1300">
                <a:solidFill>
                  <a:srgbClr val="94A3B8"/>
                </a:solidFill>
              </a:defRPr>
            </a:pPr>
            <a:r>
              <a:t>4. Ready for EHS compliance reporting.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3657600" cy="365760"/>
          </a:xfrm>
          <a:prstGeom prst="rect">
            <a:avLst/>
          </a:prstGeom>
          <a:noFill/>
        </p:spPr>
        <p:txBody>
          <a:bodyPr wrap="square">
            <a:spAutoFit/>
          </a:bodyPr>
          <a:lstStyle/>
          <a:p>
            <a:pPr>
              <a:defRPr sz="1100" b="1">
                <a:solidFill>
                  <a:srgbClr val="06B6D4"/>
                </a:solidFill>
              </a:defRPr>
            </a:pPr>
            <a:r>
              <a:t>MANAGEMENT ANALYTICS</a:t>
            </a:r>
          </a:p>
        </p:txBody>
      </p:sp>
      <p:sp>
        <p:nvSpPr>
          <p:cNvPr id="4" name="TextBox 3"/>
          <p:cNvSpPr txBox="1"/>
          <p:nvPr/>
        </p:nvSpPr>
        <p:spPr>
          <a:xfrm>
            <a:off x="731520" y="731520"/>
            <a:ext cx="10698480" cy="640080"/>
          </a:xfrm>
          <a:prstGeom prst="rect">
            <a:avLst/>
          </a:prstGeom>
          <a:noFill/>
        </p:spPr>
        <p:txBody>
          <a:bodyPr wrap="square">
            <a:spAutoFit/>
          </a:bodyPr>
          <a:lstStyle/>
          <a:p>
            <a:pPr>
              <a:defRPr sz="2400" b="1">
                <a:solidFill>
                  <a:srgbClr val="F8FAFC"/>
                </a:solidFill>
              </a:defRPr>
            </a:pPr>
            <a:r>
              <a:t>Central Web BI Dashboard: Real-Time Plant Compliance &amp; Audit Trail</a:t>
            </a:r>
          </a:p>
        </p:txBody>
      </p:sp>
      <p:pic>
        <p:nvPicPr>
          <p:cNvPr id="5" name="Picture 4" descr="dashboard_preview.jpg"/>
          <p:cNvPicPr>
            <a:picLocks noChangeAspect="1"/>
          </p:cNvPicPr>
          <p:nvPr/>
        </p:nvPicPr>
        <p:blipFill>
          <a:blip r:embed="rId3"/>
          <a:stretch>
            <a:fillRect/>
          </a:stretch>
        </p:blipFill>
        <p:spPr>
          <a:xfrm>
            <a:off x="872067" y="1645919"/>
            <a:ext cx="6163733" cy="4800601"/>
          </a:xfrm>
          <a:prstGeom prst="rect">
            <a:avLst/>
          </a:prstGeom>
        </p:spPr>
      </p:pic>
      <p:sp>
        <p:nvSpPr>
          <p:cNvPr id="6" name="Rounded Rectangle 5"/>
          <p:cNvSpPr/>
          <p:nvPr/>
        </p:nvSpPr>
        <p:spPr>
          <a:xfrm>
            <a:off x="7589520" y="1645920"/>
            <a:ext cx="384048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18120" y="1828800"/>
            <a:ext cx="3383280" cy="4023359"/>
          </a:xfrm>
          <a:prstGeom prst="rect">
            <a:avLst/>
          </a:prstGeom>
          <a:noFill/>
        </p:spPr>
        <p:txBody>
          <a:bodyPr wrap="square">
            <a:spAutoFit/>
          </a:bodyPr>
          <a:lstStyle/>
          <a:p>
            <a:pPr>
              <a:spcAft>
                <a:spcPts val="800"/>
              </a:spcAft>
              <a:defRPr sz="1600" b="1">
                <a:solidFill>
                  <a:srgbClr val="F8FAFC"/>
                </a:solidFill>
              </a:defRPr>
            </a:pPr>
            <a:r>
              <a:rPr dirty="0"/>
              <a:t>Dashboard Capabilities</a:t>
            </a:r>
          </a:p>
          <a:p>
            <a:pPr>
              <a:spcAft>
                <a:spcPts val="400"/>
              </a:spcAft>
              <a:defRPr sz="1300">
                <a:solidFill>
                  <a:srgbClr val="94A3B8"/>
                </a:solidFill>
              </a:defRPr>
            </a:pPr>
            <a:r>
              <a:rPr dirty="0"/>
              <a:t>• Zero-Dependency Server: Runs locally on port 8080; no external cloud subscription required.</a:t>
            </a:r>
          </a:p>
          <a:p>
            <a:pPr>
              <a:spcAft>
                <a:spcPts val="400"/>
              </a:spcAft>
              <a:defRPr sz="1300">
                <a:solidFill>
                  <a:srgbClr val="94A3B8"/>
                </a:solidFill>
              </a:defRPr>
            </a:pPr>
            <a:endParaRPr dirty="0"/>
          </a:p>
          <a:p>
            <a:pPr>
              <a:spcAft>
                <a:spcPts val="400"/>
              </a:spcAft>
              <a:defRPr sz="1300">
                <a:solidFill>
                  <a:srgbClr val="94A3B8"/>
                </a:solidFill>
              </a:defRPr>
            </a:pPr>
            <a:r>
              <a:rPr dirty="0"/>
              <a:t>• Real-Time Auto-Refresh: Updates every 2 seconds with live incident counters.</a:t>
            </a:r>
          </a:p>
          <a:p>
            <a:pPr>
              <a:spcAft>
                <a:spcPts val="400"/>
              </a:spcAft>
              <a:defRPr sz="1300">
                <a:solidFill>
                  <a:srgbClr val="94A3B8"/>
                </a:solidFill>
              </a:defRPr>
            </a:pPr>
            <a:endParaRPr dirty="0"/>
          </a:p>
          <a:p>
            <a:pPr>
              <a:spcAft>
                <a:spcPts val="400"/>
              </a:spcAft>
              <a:defRPr sz="1300">
                <a:solidFill>
                  <a:srgbClr val="94A3B8"/>
                </a:solidFill>
              </a:defRPr>
            </a:pPr>
            <a:r>
              <a:rPr dirty="0"/>
              <a:t>• Compliance KPI Meter: Live % compliance rating for the active shift.</a:t>
            </a:r>
          </a:p>
          <a:p>
            <a:pPr>
              <a:spcAft>
                <a:spcPts val="400"/>
              </a:spcAft>
              <a:defRPr sz="1300">
                <a:solidFill>
                  <a:srgbClr val="94A3B8"/>
                </a:solidFill>
              </a:defRPr>
            </a:pPr>
            <a:endParaRPr dirty="0"/>
          </a:p>
          <a:p>
            <a:pPr>
              <a:spcAft>
                <a:spcPts val="400"/>
              </a:spcAft>
              <a:defRPr sz="1300">
                <a:solidFill>
                  <a:srgbClr val="94A3B8"/>
                </a:solidFill>
              </a:defRPr>
            </a:pPr>
            <a:r>
              <a:rPr dirty="0"/>
              <a:t>• Multi-Camera Aggregator: Filter statistics across individual machine cells.</a:t>
            </a:r>
          </a:p>
          <a:p>
            <a:pPr>
              <a:spcAft>
                <a:spcPts val="400"/>
              </a:spcAft>
              <a:defRPr sz="1300">
                <a:solidFill>
                  <a:srgbClr val="94A3B8"/>
                </a:solidFill>
              </a:defRPr>
            </a:pPr>
            <a:endParaRPr dirty="0"/>
          </a:p>
          <a:p>
            <a:pPr>
              <a:spcAft>
                <a:spcPts val="400"/>
              </a:spcAft>
              <a:defRPr sz="1300">
                <a:solidFill>
                  <a:srgbClr val="94A3B8"/>
                </a:solidFill>
              </a:defRPr>
            </a:pPr>
            <a:r>
              <a:rPr dirty="0"/>
              <a:t>• Forensic Audit Table: Verifiable incident history with CSV download.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3657600" cy="365760"/>
          </a:xfrm>
          <a:prstGeom prst="rect">
            <a:avLst/>
          </a:prstGeom>
          <a:noFill/>
        </p:spPr>
        <p:txBody>
          <a:bodyPr wrap="square">
            <a:spAutoFit/>
          </a:bodyPr>
          <a:lstStyle/>
          <a:p>
            <a:pPr>
              <a:defRPr sz="1100" b="1">
                <a:solidFill>
                  <a:srgbClr val="06B6D4"/>
                </a:solidFill>
              </a:defRPr>
            </a:pPr>
            <a:r>
              <a:t>DEPLOYMENT ROADMAP</a:t>
            </a:r>
          </a:p>
        </p:txBody>
      </p:sp>
      <p:sp>
        <p:nvSpPr>
          <p:cNvPr id="4" name="TextBox 3"/>
          <p:cNvSpPr txBox="1"/>
          <p:nvPr/>
        </p:nvSpPr>
        <p:spPr>
          <a:xfrm>
            <a:off x="731520" y="731520"/>
            <a:ext cx="10698480" cy="640080"/>
          </a:xfrm>
          <a:prstGeom prst="rect">
            <a:avLst/>
          </a:prstGeom>
          <a:noFill/>
        </p:spPr>
        <p:txBody>
          <a:bodyPr wrap="square">
            <a:spAutoFit/>
          </a:bodyPr>
          <a:lstStyle/>
          <a:p>
            <a:pPr>
              <a:defRPr sz="2400" b="1">
                <a:solidFill>
                  <a:srgbClr val="F8FAFC"/>
                </a:solidFill>
              </a:defRPr>
            </a:pPr>
            <a:r>
              <a:t>From POC to Enterprise Rollout: Seamless Factory Integration</a:t>
            </a:r>
          </a:p>
        </p:txBody>
      </p:sp>
      <p:sp>
        <p:nvSpPr>
          <p:cNvPr id="5" name="Rounded Rectangle 4"/>
          <p:cNvSpPr/>
          <p:nvPr/>
        </p:nvSpPr>
        <p:spPr>
          <a:xfrm>
            <a:off x="731520" y="1645920"/>
            <a:ext cx="338328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28800"/>
            <a:ext cx="2926080" cy="4023359"/>
          </a:xfrm>
          <a:prstGeom prst="rect">
            <a:avLst/>
          </a:prstGeom>
          <a:noFill/>
        </p:spPr>
        <p:txBody>
          <a:bodyPr wrap="square">
            <a:spAutoFit/>
          </a:bodyPr>
          <a:lstStyle/>
          <a:p>
            <a:pPr>
              <a:spcAft>
                <a:spcPts val="800"/>
              </a:spcAft>
              <a:defRPr sz="1600" b="1">
                <a:solidFill>
                  <a:srgbClr val="F8FAFC"/>
                </a:solidFill>
              </a:defRPr>
            </a:pPr>
            <a:r>
              <a:t>Phase 1: Validated POC</a:t>
            </a:r>
          </a:p>
          <a:p>
            <a:pPr>
              <a:spcAft>
                <a:spcPts val="400"/>
              </a:spcAft>
              <a:defRPr sz="1300">
                <a:solidFill>
                  <a:srgbClr val="94A3B8"/>
                </a:solidFill>
              </a:defRPr>
            </a:pPr>
            <a:r>
              <a:t>Status: COMPLETED ✅</a:t>
            </a:r>
          </a:p>
          <a:p>
            <a:pPr>
              <a:spcAft>
                <a:spcPts val="400"/>
              </a:spcAft>
              <a:defRPr sz="1300">
                <a:solidFill>
                  <a:srgbClr val="94A3B8"/>
                </a:solidFill>
              </a:defRPr>
            </a:pPr>
            <a:endParaRPr/>
          </a:p>
          <a:p>
            <a:pPr>
              <a:spcAft>
                <a:spcPts val="400"/>
              </a:spcAft>
              <a:defRPr sz="1300">
                <a:solidFill>
                  <a:srgbClr val="94A3B8"/>
                </a:solidFill>
              </a:defRPr>
            </a:pPr>
            <a:r>
              <a:t>• Custom GPU-trained model (97.8% mAP)</a:t>
            </a:r>
          </a:p>
          <a:p>
            <a:pPr>
              <a:spcAft>
                <a:spcPts val="400"/>
              </a:spcAft>
              <a:defRPr sz="1300">
                <a:solidFill>
                  <a:srgbClr val="94A3B8"/>
                </a:solidFill>
              </a:defRPr>
            </a:pPr>
            <a:r>
              <a:t>• Draggable virtual machine zones</a:t>
            </a:r>
          </a:p>
          <a:p>
            <a:pPr>
              <a:spcAft>
                <a:spcPts val="400"/>
              </a:spcAft>
              <a:defRPr sz="1300">
                <a:solidFill>
                  <a:srgbClr val="94A3B8"/>
                </a:solidFill>
              </a:defRPr>
            </a:pPr>
            <a:r>
              <a:t>• High-decibel industrial siren</a:t>
            </a:r>
          </a:p>
          <a:p>
            <a:pPr>
              <a:spcAft>
                <a:spcPts val="400"/>
              </a:spcAft>
              <a:defRPr sz="1300">
                <a:solidFill>
                  <a:srgbClr val="94A3B8"/>
                </a:solidFill>
              </a:defRPr>
            </a:pPr>
            <a:r>
              <a:t>• In-camera Events Drawer &amp; HUD</a:t>
            </a:r>
          </a:p>
          <a:p>
            <a:pPr>
              <a:spcAft>
                <a:spcPts val="400"/>
              </a:spcAft>
              <a:defRPr sz="1300">
                <a:solidFill>
                  <a:srgbClr val="94A3B8"/>
                </a:solidFill>
              </a:defRPr>
            </a:pPr>
            <a:r>
              <a:t>• Standalone web analytics dashboard</a:t>
            </a:r>
          </a:p>
          <a:p>
            <a:pPr>
              <a:spcAft>
                <a:spcPts val="400"/>
              </a:spcAft>
              <a:defRPr sz="1300">
                <a:solidFill>
                  <a:srgbClr val="94A3B8"/>
                </a:solidFill>
              </a:defRPr>
            </a:pPr>
            <a:r>
              <a:t>• 19 automated unit test cases</a:t>
            </a:r>
          </a:p>
        </p:txBody>
      </p:sp>
      <p:sp>
        <p:nvSpPr>
          <p:cNvPr id="7" name="Rounded Rectangle 6"/>
          <p:cNvSpPr/>
          <p:nvPr/>
        </p:nvSpPr>
        <p:spPr>
          <a:xfrm>
            <a:off x="4389120" y="1645920"/>
            <a:ext cx="3383280" cy="4389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1828800"/>
            <a:ext cx="2926080" cy="4023359"/>
          </a:xfrm>
          <a:prstGeom prst="rect">
            <a:avLst/>
          </a:prstGeom>
          <a:noFill/>
        </p:spPr>
        <p:txBody>
          <a:bodyPr wrap="square">
            <a:spAutoFit/>
          </a:bodyPr>
          <a:lstStyle/>
          <a:p>
            <a:pPr>
              <a:spcAft>
                <a:spcPts val="800"/>
              </a:spcAft>
              <a:defRPr sz="1600" b="1">
                <a:solidFill>
                  <a:srgbClr val="F8FAFC"/>
                </a:solidFill>
              </a:defRPr>
            </a:pPr>
            <a:r>
              <a:t>Phase 2: 2-Week Site Pilot</a:t>
            </a:r>
          </a:p>
          <a:p>
            <a:pPr>
              <a:spcAft>
                <a:spcPts val="400"/>
              </a:spcAft>
              <a:defRPr sz="1300">
                <a:solidFill>
                  <a:srgbClr val="94A3B8"/>
                </a:solidFill>
              </a:defRPr>
            </a:pPr>
            <a:r>
              <a:t>Target: 1–2 Machine Cells 🚀</a:t>
            </a:r>
          </a:p>
          <a:p>
            <a:pPr>
              <a:spcAft>
                <a:spcPts val="400"/>
              </a:spcAft>
              <a:defRPr sz="1300">
                <a:solidFill>
                  <a:srgbClr val="94A3B8"/>
                </a:solidFill>
              </a:defRPr>
            </a:pPr>
            <a:endParaRPr/>
          </a:p>
          <a:p>
            <a:pPr>
              <a:spcAft>
                <a:spcPts val="400"/>
              </a:spcAft>
              <a:defRPr sz="1300">
                <a:solidFill>
                  <a:srgbClr val="94A3B8"/>
                </a:solidFill>
              </a:defRPr>
            </a:pPr>
            <a:r>
              <a:t>• Multi-camera RTSP ingestion (connecting plant CCTV streams)</a:t>
            </a:r>
          </a:p>
          <a:p>
            <a:pPr>
              <a:spcAft>
                <a:spcPts val="400"/>
              </a:spcAft>
              <a:defRPr sz="1300">
                <a:solidFill>
                  <a:srgbClr val="94A3B8"/>
                </a:solidFill>
              </a:defRPr>
            </a:pPr>
            <a:r>
              <a:t>• Floor tape calibration to physical barriers</a:t>
            </a:r>
          </a:p>
          <a:p>
            <a:pPr>
              <a:spcAft>
                <a:spcPts val="400"/>
              </a:spcAft>
              <a:defRPr sz="1300">
                <a:solidFill>
                  <a:srgbClr val="94A3B8"/>
                </a:solidFill>
              </a:defRPr>
            </a:pPr>
            <a:r>
              <a:t>• PLC / Interlock relay integration (dry-contact relay to physically lock turnstiles or pause machinery)</a:t>
            </a:r>
          </a:p>
          <a:p>
            <a:pPr>
              <a:spcAft>
                <a:spcPts val="400"/>
              </a:spcAft>
              <a:defRPr sz="1300">
                <a:solidFill>
                  <a:srgbClr val="94A3B8"/>
                </a:solidFill>
              </a:defRPr>
            </a:pPr>
            <a:r>
              <a:t>• Baseline compliance benchmarking</a:t>
            </a:r>
          </a:p>
        </p:txBody>
      </p:sp>
      <p:sp>
        <p:nvSpPr>
          <p:cNvPr id="9" name="Rounded Rectangle 8"/>
          <p:cNvSpPr/>
          <p:nvPr/>
        </p:nvSpPr>
        <p:spPr>
          <a:xfrm>
            <a:off x="8046720" y="1645920"/>
            <a:ext cx="338328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75320" y="1828800"/>
            <a:ext cx="2926080" cy="4023359"/>
          </a:xfrm>
          <a:prstGeom prst="rect">
            <a:avLst/>
          </a:prstGeom>
          <a:noFill/>
        </p:spPr>
        <p:txBody>
          <a:bodyPr wrap="square">
            <a:spAutoFit/>
          </a:bodyPr>
          <a:lstStyle/>
          <a:p>
            <a:pPr>
              <a:spcAft>
                <a:spcPts val="800"/>
              </a:spcAft>
              <a:defRPr sz="1600" b="1">
                <a:solidFill>
                  <a:srgbClr val="F8FAFC"/>
                </a:solidFill>
              </a:defRPr>
            </a:pPr>
            <a:r>
              <a:t>Phase 3: Plant-Wide Scaling</a:t>
            </a:r>
          </a:p>
          <a:p>
            <a:pPr>
              <a:spcAft>
                <a:spcPts val="400"/>
              </a:spcAft>
              <a:defRPr sz="1300">
                <a:solidFill>
                  <a:srgbClr val="94A3B8"/>
                </a:solidFill>
              </a:defRPr>
            </a:pPr>
            <a:r>
              <a:t>Target: Full Facility Rollout 🏢</a:t>
            </a:r>
          </a:p>
          <a:p>
            <a:pPr>
              <a:spcAft>
                <a:spcPts val="400"/>
              </a:spcAft>
              <a:defRPr sz="1300">
                <a:solidFill>
                  <a:srgbClr val="94A3B8"/>
                </a:solidFill>
              </a:defRPr>
            </a:pPr>
            <a:endParaRPr/>
          </a:p>
          <a:p>
            <a:pPr>
              <a:spcAft>
                <a:spcPts val="400"/>
              </a:spcAft>
              <a:defRPr sz="1300">
                <a:solidFill>
                  <a:srgbClr val="94A3B8"/>
                </a:solidFill>
              </a:defRPr>
            </a:pPr>
            <a:r>
              <a:t>• Centralized edge server running 8–16 camera feeds</a:t>
            </a:r>
          </a:p>
          <a:p>
            <a:pPr>
              <a:spcAft>
                <a:spcPts val="400"/>
              </a:spcAft>
              <a:defRPr sz="1300">
                <a:solidFill>
                  <a:srgbClr val="94A3B8"/>
                </a:solidFill>
              </a:defRPr>
            </a:pPr>
            <a:r>
              <a:t>• Database synchronization (PostgreSQL / AWS / Azure IoT)</a:t>
            </a:r>
          </a:p>
          <a:p>
            <a:pPr>
              <a:spcAft>
                <a:spcPts val="400"/>
              </a:spcAft>
              <a:defRPr sz="1300">
                <a:solidFill>
                  <a:srgbClr val="94A3B8"/>
                </a:solidFill>
              </a:defRPr>
            </a:pPr>
            <a:r>
              <a:t>• Automated SMS / Email escalation for repeat violations</a:t>
            </a:r>
          </a:p>
          <a:p>
            <a:pPr>
              <a:spcAft>
                <a:spcPts val="400"/>
              </a:spcAft>
              <a:defRPr sz="1300">
                <a:solidFill>
                  <a:srgbClr val="94A3B8"/>
                </a:solidFill>
              </a:defRPr>
            </a:pPr>
            <a:r>
              <a:t>• Integration with plant access control turnstiles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14400" y="1828800"/>
            <a:ext cx="109728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103120"/>
            <a:ext cx="10332720" cy="2286000"/>
          </a:xfrm>
          <a:prstGeom prst="rect">
            <a:avLst/>
          </a:prstGeom>
          <a:noFill/>
        </p:spPr>
        <p:txBody>
          <a:bodyPr wrap="square">
            <a:spAutoFit/>
          </a:bodyPr>
          <a:lstStyle/>
          <a:p>
            <a:pPr>
              <a:spcAft>
                <a:spcPts val="1200"/>
              </a:spcAft>
              <a:defRPr sz="1300" b="1">
                <a:solidFill>
                  <a:srgbClr val="06B6D4"/>
                </a:solidFill>
              </a:defRPr>
            </a:pPr>
            <a:r>
              <a:t>READY FOR PILOT DEPLOYMENT</a:t>
            </a:r>
          </a:p>
          <a:p>
            <a:pPr>
              <a:spcAft>
                <a:spcPts val="1600"/>
              </a:spcAft>
              <a:defRPr sz="3600" b="1">
                <a:solidFill>
                  <a:srgbClr val="F8FAFC"/>
                </a:solidFill>
              </a:defRPr>
            </a:pPr>
            <a:r>
              <a:t>Questions &amp; Technical Discussion</a:t>
            </a:r>
          </a:p>
          <a:p>
            <a:pPr>
              <a:defRPr sz="1600">
                <a:solidFill>
                  <a:srgbClr val="94A3B8"/>
                </a:solidFill>
              </a:defRPr>
            </a:pPr>
            <a:r>
              <a:t>Let's schedule a 2-week pilot at your primary machine cell to measure immediate safety impact.</a:t>
            </a:r>
          </a:p>
        </p:txBody>
      </p:sp>
      <p:sp>
        <p:nvSpPr>
          <p:cNvPr id="5" name="Rounded Rectangle 4"/>
          <p:cNvSpPr/>
          <p:nvPr/>
        </p:nvSpPr>
        <p:spPr>
          <a:xfrm>
            <a:off x="914400" y="4754880"/>
            <a:ext cx="4937760" cy="137160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 y="4937760"/>
            <a:ext cx="4480560" cy="1005840"/>
          </a:xfrm>
          <a:prstGeom prst="rect">
            <a:avLst/>
          </a:prstGeom>
          <a:noFill/>
        </p:spPr>
        <p:txBody>
          <a:bodyPr wrap="square">
            <a:spAutoFit/>
          </a:bodyPr>
          <a:lstStyle/>
          <a:p>
            <a:pPr>
              <a:spcAft>
                <a:spcPts val="800"/>
              </a:spcAft>
              <a:defRPr sz="1600" b="1">
                <a:solidFill>
                  <a:srgbClr val="F8FAFC"/>
                </a:solidFill>
              </a:defRPr>
            </a:pPr>
            <a:r>
              <a:t>Proposed Pilot Scope</a:t>
            </a:r>
          </a:p>
          <a:p>
            <a:pPr>
              <a:spcAft>
                <a:spcPts val="400"/>
              </a:spcAft>
              <a:defRPr sz="1300">
                <a:solidFill>
                  <a:srgbClr val="94A3B8"/>
                </a:solidFill>
              </a:defRPr>
            </a:pPr>
            <a:r>
              <a:t>• Deploy on 1 high-risk machine cell</a:t>
            </a:r>
          </a:p>
          <a:p>
            <a:pPr>
              <a:spcAft>
                <a:spcPts val="400"/>
              </a:spcAft>
              <a:defRPr sz="1300">
                <a:solidFill>
                  <a:srgbClr val="94A3B8"/>
                </a:solidFill>
              </a:defRPr>
            </a:pPr>
            <a:r>
              <a:t>• Connect to existing CCTV or provided IP camera</a:t>
            </a:r>
          </a:p>
          <a:p>
            <a:pPr>
              <a:spcAft>
                <a:spcPts val="400"/>
              </a:spcAft>
              <a:defRPr sz="1300">
                <a:solidFill>
                  <a:srgbClr val="94A3B8"/>
                </a:solidFill>
              </a:defRPr>
            </a:pPr>
            <a:r>
              <a:t>• Measure 14-day compliance improvement</a:t>
            </a:r>
          </a:p>
        </p:txBody>
      </p:sp>
      <p:sp>
        <p:nvSpPr>
          <p:cNvPr id="7" name="Rounded Rectangle 6"/>
          <p:cNvSpPr/>
          <p:nvPr/>
        </p:nvSpPr>
        <p:spPr>
          <a:xfrm>
            <a:off x="6309360" y="4754880"/>
            <a:ext cx="4937760" cy="13716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7960" y="4937760"/>
            <a:ext cx="4480560" cy="1005840"/>
          </a:xfrm>
          <a:prstGeom prst="rect">
            <a:avLst/>
          </a:prstGeom>
          <a:noFill/>
        </p:spPr>
        <p:txBody>
          <a:bodyPr wrap="square">
            <a:spAutoFit/>
          </a:bodyPr>
          <a:lstStyle/>
          <a:p>
            <a:pPr>
              <a:spcAft>
                <a:spcPts val="800"/>
              </a:spcAft>
              <a:defRPr sz="1600" b="1">
                <a:solidFill>
                  <a:srgbClr val="F8FAFC"/>
                </a:solidFill>
              </a:defRPr>
            </a:pPr>
            <a:r>
              <a:t>Contact &amp; Support</a:t>
            </a:r>
          </a:p>
          <a:p>
            <a:pPr>
              <a:spcAft>
                <a:spcPts val="400"/>
              </a:spcAft>
              <a:defRPr sz="1300">
                <a:solidFill>
                  <a:srgbClr val="94A3B8"/>
                </a:solidFill>
              </a:defRPr>
            </a:pPr>
            <a:r>
              <a:t>• Full source code &amp; model weights included</a:t>
            </a:r>
          </a:p>
          <a:p>
            <a:pPr>
              <a:spcAft>
                <a:spcPts val="400"/>
              </a:spcAft>
              <a:defRPr sz="1300">
                <a:solidFill>
                  <a:srgbClr val="94A3B8"/>
                </a:solidFill>
              </a:defRPr>
            </a:pPr>
            <a:r>
              <a:t>• On-site calibration assistance provided</a:t>
            </a:r>
          </a:p>
          <a:p>
            <a:pPr>
              <a:spcAft>
                <a:spcPts val="400"/>
              </a:spcAft>
              <a:defRPr sz="1300">
                <a:solidFill>
                  <a:srgbClr val="94A3B8"/>
                </a:solidFill>
              </a:defRPr>
            </a:pPr>
            <a:r>
              <a:t>• Integration with plant EHS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1960</Words>
  <Application>Microsoft Office PowerPoint</Application>
  <PresentationFormat>Widescreen</PresentationFormat>
  <Paragraphs>220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Sairam Chennaka</cp:lastModifiedBy>
  <cp:revision>2</cp:revision>
  <dcterms:created xsi:type="dcterms:W3CDTF">2013-01-27T09:14:16Z</dcterms:created>
  <dcterms:modified xsi:type="dcterms:W3CDTF">2026-10-19T18:34:41Z</dcterms:modified>
  <cp:category/>
</cp:coreProperties>
</file>